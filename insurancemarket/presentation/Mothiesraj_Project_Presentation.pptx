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78" r:id="rId5"/>
    <p:sldId id="279" r:id="rId6"/>
    <p:sldId id="296" r:id="rId7"/>
    <p:sldId id="280" r:id="rId8"/>
    <p:sldId id="281" r:id="rId9"/>
    <p:sldId id="283" r:id="rId10"/>
    <p:sldId id="284" r:id="rId11"/>
    <p:sldId id="291" r:id="rId12"/>
    <p:sldId id="28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FB0CA-1425-8F9F-C503-0F79D22FBF1B}" v="6" dt="2026-07-06T04:23:18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BB4844-A08C-4264-B64F-69E3BC3A8E8B}" type="doc">
      <dgm:prSet loTypeId="urn:microsoft.com/office/officeart/2016/7/layout/BasicLinearProcessNumbered" loCatId="process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0080125F-DE24-4310-9362-F821E4BD5294}">
      <dgm:prSet/>
      <dgm:spPr/>
      <dgm:t>
        <a:bodyPr/>
        <a:lstStyle/>
        <a:p>
          <a:pPr algn="ctr">
            <a:buNone/>
          </a:pPr>
          <a:r>
            <a:rPr lang="en-IN" dirty="0" err="1"/>
            <a:t>Analyze</a:t>
          </a:r>
          <a:r>
            <a:rPr lang="en-IN" dirty="0"/>
            <a:t> leads through different funnel stages.</a:t>
          </a:r>
        </a:p>
      </dgm:t>
    </dgm:pt>
    <dgm:pt modelId="{70EC9B65-A4F1-46AA-A66F-975924AA297E}" type="parTrans" cxnId="{55DC6D54-CEF3-4782-8003-ACD3A6D60E30}">
      <dgm:prSet/>
      <dgm:spPr/>
      <dgm:t>
        <a:bodyPr/>
        <a:lstStyle/>
        <a:p>
          <a:endParaRPr lang="en-IN"/>
        </a:p>
      </dgm:t>
    </dgm:pt>
    <dgm:pt modelId="{EF4B53F5-F0A2-4B51-8639-A4DBCB10D029}" type="sibTrans" cxnId="{55DC6D54-CEF3-4782-8003-ACD3A6D60E30}">
      <dgm:prSet phldrT="1" phldr="0"/>
      <dgm:spPr/>
      <dgm:t>
        <a:bodyPr/>
        <a:lstStyle/>
        <a:p>
          <a:r>
            <a:rPr lang="en-IN"/>
            <a:t>1</a:t>
          </a:r>
        </a:p>
      </dgm:t>
    </dgm:pt>
    <dgm:pt modelId="{32948347-AA92-482C-A2B6-F5C2B11ACF2C}">
      <dgm:prSet/>
      <dgm:spPr/>
      <dgm:t>
        <a:bodyPr/>
        <a:lstStyle/>
        <a:p>
          <a:pPr algn="ctr">
            <a:buNone/>
          </a:pPr>
          <a:r>
            <a:rPr lang="en-IN" dirty="0" err="1"/>
            <a:t>Analyze</a:t>
          </a:r>
          <a:r>
            <a:rPr lang="en-IN" dirty="0"/>
            <a:t> premium revenue.</a:t>
          </a:r>
        </a:p>
      </dgm:t>
    </dgm:pt>
    <dgm:pt modelId="{1BC08237-114F-42C2-8408-2F841C753ECF}" type="parTrans" cxnId="{E628002B-D50F-4745-BA0D-3235A7DC3890}">
      <dgm:prSet/>
      <dgm:spPr/>
      <dgm:t>
        <a:bodyPr/>
        <a:lstStyle/>
        <a:p>
          <a:endParaRPr lang="en-IN"/>
        </a:p>
      </dgm:t>
    </dgm:pt>
    <dgm:pt modelId="{3DD279E5-DC56-4B71-B821-E53D3C4695A9}" type="sibTrans" cxnId="{E628002B-D50F-4745-BA0D-3235A7DC3890}">
      <dgm:prSet phldrT="2" phldr="0"/>
      <dgm:spPr/>
      <dgm:t>
        <a:bodyPr/>
        <a:lstStyle/>
        <a:p>
          <a:r>
            <a:rPr lang="en-IN"/>
            <a:t>2</a:t>
          </a:r>
        </a:p>
      </dgm:t>
    </dgm:pt>
    <dgm:pt modelId="{A8DDBB87-DAA0-4513-9648-C122250DDF8E}">
      <dgm:prSet/>
      <dgm:spPr/>
      <dgm:t>
        <a:bodyPr/>
        <a:lstStyle/>
        <a:p>
          <a:pPr algn="ctr">
            <a:buNone/>
          </a:pPr>
          <a:r>
            <a:rPr lang="en-IN" dirty="0"/>
            <a:t>Evaluate campaign performance.</a:t>
          </a:r>
        </a:p>
      </dgm:t>
    </dgm:pt>
    <dgm:pt modelId="{479164F3-BC1C-46E0-9203-EEDF49F2ADAC}" type="parTrans" cxnId="{C5228B66-04FF-4672-8C3A-31A4E711F8FA}">
      <dgm:prSet/>
      <dgm:spPr/>
      <dgm:t>
        <a:bodyPr/>
        <a:lstStyle/>
        <a:p>
          <a:endParaRPr lang="en-IN"/>
        </a:p>
      </dgm:t>
    </dgm:pt>
    <dgm:pt modelId="{E537709B-AA57-47FE-A527-7657FA75AC75}" type="sibTrans" cxnId="{C5228B66-04FF-4672-8C3A-31A4E711F8FA}">
      <dgm:prSet phldrT="3" phldr="0"/>
      <dgm:spPr/>
      <dgm:t>
        <a:bodyPr/>
        <a:lstStyle/>
        <a:p>
          <a:r>
            <a:rPr lang="en-IN"/>
            <a:t>3</a:t>
          </a:r>
        </a:p>
      </dgm:t>
    </dgm:pt>
    <dgm:pt modelId="{737932FD-0775-4F81-B795-DE96A8FD2619}" type="pres">
      <dgm:prSet presAssocID="{6BBB4844-A08C-4264-B64F-69E3BC3A8E8B}" presName="Name0" presStyleCnt="0">
        <dgm:presLayoutVars>
          <dgm:animLvl val="lvl"/>
          <dgm:resizeHandles val="exact"/>
        </dgm:presLayoutVars>
      </dgm:prSet>
      <dgm:spPr/>
    </dgm:pt>
    <dgm:pt modelId="{DD3EC7DE-6ABA-4A4E-9654-0E10756F1686}" type="pres">
      <dgm:prSet presAssocID="{0080125F-DE24-4310-9362-F821E4BD5294}" presName="compositeNode" presStyleCnt="0">
        <dgm:presLayoutVars>
          <dgm:bulletEnabled val="1"/>
        </dgm:presLayoutVars>
      </dgm:prSet>
      <dgm:spPr/>
    </dgm:pt>
    <dgm:pt modelId="{DFAF615B-DDAA-448A-B846-A9256199B387}" type="pres">
      <dgm:prSet presAssocID="{0080125F-DE24-4310-9362-F821E4BD5294}" presName="bgRect" presStyleLbl="bgAccFollowNode1" presStyleIdx="0" presStyleCnt="3"/>
      <dgm:spPr/>
    </dgm:pt>
    <dgm:pt modelId="{63E36F5E-E13F-4AC3-81EA-3F919EA57D0F}" type="pres">
      <dgm:prSet presAssocID="{EF4B53F5-F0A2-4B51-8639-A4DBCB10D029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F98A22B5-B0E8-4247-8BA5-551038A57CCD}" type="pres">
      <dgm:prSet presAssocID="{0080125F-DE24-4310-9362-F821E4BD5294}" presName="bottomLine" presStyleLbl="alignNode1" presStyleIdx="1" presStyleCnt="6">
        <dgm:presLayoutVars/>
      </dgm:prSet>
      <dgm:spPr/>
    </dgm:pt>
    <dgm:pt modelId="{83738D3F-B0CC-4AD7-99D4-BE8715173E94}" type="pres">
      <dgm:prSet presAssocID="{0080125F-DE24-4310-9362-F821E4BD5294}" presName="nodeText" presStyleLbl="bgAccFollowNode1" presStyleIdx="0" presStyleCnt="3">
        <dgm:presLayoutVars>
          <dgm:bulletEnabled val="1"/>
        </dgm:presLayoutVars>
      </dgm:prSet>
      <dgm:spPr/>
    </dgm:pt>
    <dgm:pt modelId="{CC42D4A4-EA77-4F48-9461-16C598597C8B}" type="pres">
      <dgm:prSet presAssocID="{EF4B53F5-F0A2-4B51-8639-A4DBCB10D029}" presName="sibTrans" presStyleCnt="0"/>
      <dgm:spPr/>
    </dgm:pt>
    <dgm:pt modelId="{54DC634A-1D1D-4F72-AB83-B85A16165C30}" type="pres">
      <dgm:prSet presAssocID="{32948347-AA92-482C-A2B6-F5C2B11ACF2C}" presName="compositeNode" presStyleCnt="0">
        <dgm:presLayoutVars>
          <dgm:bulletEnabled val="1"/>
        </dgm:presLayoutVars>
      </dgm:prSet>
      <dgm:spPr/>
    </dgm:pt>
    <dgm:pt modelId="{493DACE5-18AD-4935-B040-661E1EE871AD}" type="pres">
      <dgm:prSet presAssocID="{32948347-AA92-482C-A2B6-F5C2B11ACF2C}" presName="bgRect" presStyleLbl="bgAccFollowNode1" presStyleIdx="1" presStyleCnt="3" custLinFactNeighborX="2922"/>
      <dgm:spPr/>
    </dgm:pt>
    <dgm:pt modelId="{64DBA17E-1500-4389-BC4E-A5F7AD092A70}" type="pres">
      <dgm:prSet presAssocID="{3DD279E5-DC56-4B71-B821-E53D3C4695A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9ABF6EB9-1697-47B6-9BD3-21D6AE3CC441}" type="pres">
      <dgm:prSet presAssocID="{32948347-AA92-482C-A2B6-F5C2B11ACF2C}" presName="bottomLine" presStyleLbl="alignNode1" presStyleIdx="3" presStyleCnt="6">
        <dgm:presLayoutVars/>
      </dgm:prSet>
      <dgm:spPr/>
    </dgm:pt>
    <dgm:pt modelId="{A9E22DAF-4E91-41AF-963E-341FE0C24782}" type="pres">
      <dgm:prSet presAssocID="{32948347-AA92-482C-A2B6-F5C2B11ACF2C}" presName="nodeText" presStyleLbl="bgAccFollowNode1" presStyleIdx="1" presStyleCnt="3">
        <dgm:presLayoutVars>
          <dgm:bulletEnabled val="1"/>
        </dgm:presLayoutVars>
      </dgm:prSet>
      <dgm:spPr/>
    </dgm:pt>
    <dgm:pt modelId="{FFCDDFF5-AF14-4BC3-B007-0D747E7CCE6B}" type="pres">
      <dgm:prSet presAssocID="{3DD279E5-DC56-4B71-B821-E53D3C4695A9}" presName="sibTrans" presStyleCnt="0"/>
      <dgm:spPr/>
    </dgm:pt>
    <dgm:pt modelId="{06C4C8EF-803D-4FC7-99B4-4F20157150FD}" type="pres">
      <dgm:prSet presAssocID="{A8DDBB87-DAA0-4513-9648-C122250DDF8E}" presName="compositeNode" presStyleCnt="0">
        <dgm:presLayoutVars>
          <dgm:bulletEnabled val="1"/>
        </dgm:presLayoutVars>
      </dgm:prSet>
      <dgm:spPr/>
    </dgm:pt>
    <dgm:pt modelId="{4B5738C6-CB97-4A38-B714-20F9D5BFAAA7}" type="pres">
      <dgm:prSet presAssocID="{A8DDBB87-DAA0-4513-9648-C122250DDF8E}" presName="bgRect" presStyleLbl="bgAccFollowNode1" presStyleIdx="2" presStyleCnt="3"/>
      <dgm:spPr/>
    </dgm:pt>
    <dgm:pt modelId="{59B89A29-DBE7-457B-8999-59C9F3F24635}" type="pres">
      <dgm:prSet presAssocID="{E537709B-AA57-47FE-A527-7657FA75AC75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6311FE3-F9C2-4479-A30F-FC8343FC1073}" type="pres">
      <dgm:prSet presAssocID="{A8DDBB87-DAA0-4513-9648-C122250DDF8E}" presName="bottomLine" presStyleLbl="alignNode1" presStyleIdx="5" presStyleCnt="6">
        <dgm:presLayoutVars/>
      </dgm:prSet>
      <dgm:spPr/>
    </dgm:pt>
    <dgm:pt modelId="{138D7FF3-96D8-4042-A56B-73FA427217FE}" type="pres">
      <dgm:prSet presAssocID="{A8DDBB87-DAA0-4513-9648-C122250DDF8E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0E1C701-AA10-475C-9990-1F9E4B599D8B}" type="presOf" srcId="{32948347-AA92-482C-A2B6-F5C2B11ACF2C}" destId="{493DACE5-18AD-4935-B040-661E1EE871AD}" srcOrd="0" destOrd="0" presId="urn:microsoft.com/office/officeart/2016/7/layout/BasicLinearProcessNumbered"/>
    <dgm:cxn modelId="{1AFC621D-0C8B-454A-A6C2-0730DC5C8A0B}" type="presOf" srcId="{6BBB4844-A08C-4264-B64F-69E3BC3A8E8B}" destId="{737932FD-0775-4F81-B795-DE96A8FD2619}" srcOrd="0" destOrd="0" presId="urn:microsoft.com/office/officeart/2016/7/layout/BasicLinearProcessNumbered"/>
    <dgm:cxn modelId="{D8F95323-0A54-4E09-BE20-BA7C66D05E55}" type="presOf" srcId="{3DD279E5-DC56-4B71-B821-E53D3C4695A9}" destId="{64DBA17E-1500-4389-BC4E-A5F7AD092A70}" srcOrd="0" destOrd="0" presId="urn:microsoft.com/office/officeart/2016/7/layout/BasicLinearProcessNumbered"/>
    <dgm:cxn modelId="{E628002B-D50F-4745-BA0D-3235A7DC3890}" srcId="{6BBB4844-A08C-4264-B64F-69E3BC3A8E8B}" destId="{32948347-AA92-482C-A2B6-F5C2B11ACF2C}" srcOrd="1" destOrd="0" parTransId="{1BC08237-114F-42C2-8408-2F841C753ECF}" sibTransId="{3DD279E5-DC56-4B71-B821-E53D3C4695A9}"/>
    <dgm:cxn modelId="{C5228B66-04FF-4672-8C3A-31A4E711F8FA}" srcId="{6BBB4844-A08C-4264-B64F-69E3BC3A8E8B}" destId="{A8DDBB87-DAA0-4513-9648-C122250DDF8E}" srcOrd="2" destOrd="0" parTransId="{479164F3-BC1C-46E0-9203-EEDF49F2ADAC}" sibTransId="{E537709B-AA57-47FE-A527-7657FA75AC75}"/>
    <dgm:cxn modelId="{EDEFE74A-FC97-4D15-B80D-9802AA0C8A9B}" type="presOf" srcId="{A8DDBB87-DAA0-4513-9648-C122250DDF8E}" destId="{138D7FF3-96D8-4042-A56B-73FA427217FE}" srcOrd="1" destOrd="0" presId="urn:microsoft.com/office/officeart/2016/7/layout/BasicLinearProcessNumbered"/>
    <dgm:cxn modelId="{55DC6D54-CEF3-4782-8003-ACD3A6D60E30}" srcId="{6BBB4844-A08C-4264-B64F-69E3BC3A8E8B}" destId="{0080125F-DE24-4310-9362-F821E4BD5294}" srcOrd="0" destOrd="0" parTransId="{70EC9B65-A4F1-46AA-A66F-975924AA297E}" sibTransId="{EF4B53F5-F0A2-4B51-8639-A4DBCB10D029}"/>
    <dgm:cxn modelId="{45AAC856-FC28-4A72-84A9-860DC40F7643}" type="presOf" srcId="{A8DDBB87-DAA0-4513-9648-C122250DDF8E}" destId="{4B5738C6-CB97-4A38-B714-20F9D5BFAAA7}" srcOrd="0" destOrd="0" presId="urn:microsoft.com/office/officeart/2016/7/layout/BasicLinearProcessNumbered"/>
    <dgm:cxn modelId="{296762A4-8FF9-467A-BE40-E795E7A1350A}" type="presOf" srcId="{0080125F-DE24-4310-9362-F821E4BD5294}" destId="{DFAF615B-DDAA-448A-B846-A9256199B387}" srcOrd="0" destOrd="0" presId="urn:microsoft.com/office/officeart/2016/7/layout/BasicLinearProcessNumbered"/>
    <dgm:cxn modelId="{287FA9A5-A470-4D96-B3DA-012F1F0CE38B}" type="presOf" srcId="{EF4B53F5-F0A2-4B51-8639-A4DBCB10D029}" destId="{63E36F5E-E13F-4AC3-81EA-3F919EA57D0F}" srcOrd="0" destOrd="0" presId="urn:microsoft.com/office/officeart/2016/7/layout/BasicLinearProcessNumbered"/>
    <dgm:cxn modelId="{66F6F8D0-F8C6-4AA2-ACDE-E9D69EC974D5}" type="presOf" srcId="{0080125F-DE24-4310-9362-F821E4BD5294}" destId="{83738D3F-B0CC-4AD7-99D4-BE8715173E94}" srcOrd="1" destOrd="0" presId="urn:microsoft.com/office/officeart/2016/7/layout/BasicLinearProcessNumbered"/>
    <dgm:cxn modelId="{8AA4E0E1-D9C6-4624-A8B1-F2321E455F86}" type="presOf" srcId="{32948347-AA92-482C-A2B6-F5C2B11ACF2C}" destId="{A9E22DAF-4E91-41AF-963E-341FE0C24782}" srcOrd="1" destOrd="0" presId="urn:microsoft.com/office/officeart/2016/7/layout/BasicLinearProcessNumbered"/>
    <dgm:cxn modelId="{6F0853E2-C4C4-47E7-9A4F-5E657A5B4559}" type="presOf" srcId="{E537709B-AA57-47FE-A527-7657FA75AC75}" destId="{59B89A29-DBE7-457B-8999-59C9F3F24635}" srcOrd="0" destOrd="0" presId="urn:microsoft.com/office/officeart/2016/7/layout/BasicLinearProcessNumbered"/>
    <dgm:cxn modelId="{577E46FA-CF59-4070-937A-9517AA9967C2}" type="presParOf" srcId="{737932FD-0775-4F81-B795-DE96A8FD2619}" destId="{DD3EC7DE-6ABA-4A4E-9654-0E10756F1686}" srcOrd="0" destOrd="0" presId="urn:microsoft.com/office/officeart/2016/7/layout/BasicLinearProcessNumbered"/>
    <dgm:cxn modelId="{48D35567-1F81-4F76-9A96-B3DF48BA52FA}" type="presParOf" srcId="{DD3EC7DE-6ABA-4A4E-9654-0E10756F1686}" destId="{DFAF615B-DDAA-448A-B846-A9256199B387}" srcOrd="0" destOrd="0" presId="urn:microsoft.com/office/officeart/2016/7/layout/BasicLinearProcessNumbered"/>
    <dgm:cxn modelId="{20622B4B-086A-4217-B75C-841064283D4C}" type="presParOf" srcId="{DD3EC7DE-6ABA-4A4E-9654-0E10756F1686}" destId="{63E36F5E-E13F-4AC3-81EA-3F919EA57D0F}" srcOrd="1" destOrd="0" presId="urn:microsoft.com/office/officeart/2016/7/layout/BasicLinearProcessNumbered"/>
    <dgm:cxn modelId="{EB214181-5C11-43A2-8D1D-38E3E0D5D7C9}" type="presParOf" srcId="{DD3EC7DE-6ABA-4A4E-9654-0E10756F1686}" destId="{F98A22B5-B0E8-4247-8BA5-551038A57CCD}" srcOrd="2" destOrd="0" presId="urn:microsoft.com/office/officeart/2016/7/layout/BasicLinearProcessNumbered"/>
    <dgm:cxn modelId="{235F171F-EE7B-45EC-A936-CE0D36B18DF7}" type="presParOf" srcId="{DD3EC7DE-6ABA-4A4E-9654-0E10756F1686}" destId="{83738D3F-B0CC-4AD7-99D4-BE8715173E94}" srcOrd="3" destOrd="0" presId="urn:microsoft.com/office/officeart/2016/7/layout/BasicLinearProcessNumbered"/>
    <dgm:cxn modelId="{3DAE5A95-1E16-4596-BF70-B72A284F5D64}" type="presParOf" srcId="{737932FD-0775-4F81-B795-DE96A8FD2619}" destId="{CC42D4A4-EA77-4F48-9461-16C598597C8B}" srcOrd="1" destOrd="0" presId="urn:microsoft.com/office/officeart/2016/7/layout/BasicLinearProcessNumbered"/>
    <dgm:cxn modelId="{67628218-4345-4230-BAB8-EF1A1A0A8303}" type="presParOf" srcId="{737932FD-0775-4F81-B795-DE96A8FD2619}" destId="{54DC634A-1D1D-4F72-AB83-B85A16165C30}" srcOrd="2" destOrd="0" presId="urn:microsoft.com/office/officeart/2016/7/layout/BasicLinearProcessNumbered"/>
    <dgm:cxn modelId="{88CC16BE-B60C-4823-95AE-E95B2EABEB98}" type="presParOf" srcId="{54DC634A-1D1D-4F72-AB83-B85A16165C30}" destId="{493DACE5-18AD-4935-B040-661E1EE871AD}" srcOrd="0" destOrd="0" presId="urn:microsoft.com/office/officeart/2016/7/layout/BasicLinearProcessNumbered"/>
    <dgm:cxn modelId="{BBBCF0ED-09C1-49B0-9D4D-D97D681B9D08}" type="presParOf" srcId="{54DC634A-1D1D-4F72-AB83-B85A16165C30}" destId="{64DBA17E-1500-4389-BC4E-A5F7AD092A70}" srcOrd="1" destOrd="0" presId="urn:microsoft.com/office/officeart/2016/7/layout/BasicLinearProcessNumbered"/>
    <dgm:cxn modelId="{55546DB4-2D71-4147-8AAE-120D35333B31}" type="presParOf" srcId="{54DC634A-1D1D-4F72-AB83-B85A16165C30}" destId="{9ABF6EB9-1697-47B6-9BD3-21D6AE3CC441}" srcOrd="2" destOrd="0" presId="urn:microsoft.com/office/officeart/2016/7/layout/BasicLinearProcessNumbered"/>
    <dgm:cxn modelId="{39355D4B-A8A1-4F34-B122-E24C6E11D225}" type="presParOf" srcId="{54DC634A-1D1D-4F72-AB83-B85A16165C30}" destId="{A9E22DAF-4E91-41AF-963E-341FE0C24782}" srcOrd="3" destOrd="0" presId="urn:microsoft.com/office/officeart/2016/7/layout/BasicLinearProcessNumbered"/>
    <dgm:cxn modelId="{4A8389A1-D833-4036-AF20-DC3FEC52D470}" type="presParOf" srcId="{737932FD-0775-4F81-B795-DE96A8FD2619}" destId="{FFCDDFF5-AF14-4BC3-B007-0D747E7CCE6B}" srcOrd="3" destOrd="0" presId="urn:microsoft.com/office/officeart/2016/7/layout/BasicLinearProcessNumbered"/>
    <dgm:cxn modelId="{F96F5690-94DD-4ACE-A984-51C5AE8B04D0}" type="presParOf" srcId="{737932FD-0775-4F81-B795-DE96A8FD2619}" destId="{06C4C8EF-803D-4FC7-99B4-4F20157150FD}" srcOrd="4" destOrd="0" presId="urn:microsoft.com/office/officeart/2016/7/layout/BasicLinearProcessNumbered"/>
    <dgm:cxn modelId="{F6325689-C8E8-4A3F-9C39-BDDDD24D83F5}" type="presParOf" srcId="{06C4C8EF-803D-4FC7-99B4-4F20157150FD}" destId="{4B5738C6-CB97-4A38-B714-20F9D5BFAAA7}" srcOrd="0" destOrd="0" presId="urn:microsoft.com/office/officeart/2016/7/layout/BasicLinearProcessNumbered"/>
    <dgm:cxn modelId="{4E75B26C-0C3E-4138-BFB4-BA8C585432D2}" type="presParOf" srcId="{06C4C8EF-803D-4FC7-99B4-4F20157150FD}" destId="{59B89A29-DBE7-457B-8999-59C9F3F24635}" srcOrd="1" destOrd="0" presId="urn:microsoft.com/office/officeart/2016/7/layout/BasicLinearProcessNumbered"/>
    <dgm:cxn modelId="{1751DD53-F352-4016-AF89-E06B1FCB0778}" type="presParOf" srcId="{06C4C8EF-803D-4FC7-99B4-4F20157150FD}" destId="{06311FE3-F9C2-4479-A30F-FC8343FC1073}" srcOrd="2" destOrd="0" presId="urn:microsoft.com/office/officeart/2016/7/layout/BasicLinearProcessNumbered"/>
    <dgm:cxn modelId="{E21CE7C8-DDF6-45AC-8C8B-35FF063E6E82}" type="presParOf" srcId="{06C4C8EF-803D-4FC7-99B4-4F20157150FD}" destId="{138D7FF3-96D8-4042-A56B-73FA427217F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BB4844-A08C-4264-B64F-69E3BC3A8E8B}" type="doc">
      <dgm:prSet loTypeId="urn:microsoft.com/office/officeart/2016/7/layout/BasicLinearProcessNumbered" loCatId="process" qsTypeId="urn:microsoft.com/office/officeart/2005/8/quickstyle/simple1#2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788A2E6F-1511-4007-A21E-74297AFEA54C}">
      <dgm:prSet custT="1"/>
      <dgm:spPr>
        <a:solidFill>
          <a:srgbClr val="7030A0">
            <a:alpha val="90000"/>
          </a:srgbClr>
        </a:solidFill>
      </dgm:spPr>
      <dgm:t>
        <a:bodyPr/>
        <a:lstStyle/>
        <a:p>
          <a:pPr algn="ctr">
            <a:buNone/>
          </a:pPr>
          <a:r>
            <a:rPr lang="en-IN" sz="1800" dirty="0"/>
            <a:t>Conversion Funnel Monitoring</a:t>
          </a:r>
          <a:endParaRPr lang="en-US" sz="1800" dirty="0">
            <a:solidFill>
              <a:schemeClr val="bg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6B8320C-EA6D-49EF-85EF-035BA49B4ABB}" type="parTrans" cxnId="{6BEEADE8-CFD4-4096-891C-E38F2E51B574}">
      <dgm:prSet/>
      <dgm:spPr/>
      <dgm:t>
        <a:bodyPr/>
        <a:lstStyle/>
        <a:p>
          <a:endParaRPr lang="en-US"/>
        </a:p>
      </dgm:t>
    </dgm:pt>
    <dgm:pt modelId="{03584ED4-947C-4EDA-8FCB-DD09974E010F}" type="sibTrans" cxnId="{6BEEADE8-CFD4-4096-891C-E38F2E51B574}">
      <dgm:prSet phldrT="1" phldr="0"/>
      <dgm:spPr>
        <a:solidFill>
          <a:srgbClr val="7030A0"/>
        </a:solidFill>
        <a:ln>
          <a:solidFill>
            <a:schemeClr val="bg1"/>
          </a:solidFill>
        </a:ln>
      </dgm:spPr>
      <dgm:t>
        <a:bodyPr/>
        <a:lstStyle/>
        <a:p>
          <a:r>
            <a:rPr lang="en-US"/>
            <a:t>1</a:t>
          </a:r>
        </a:p>
      </dgm:t>
    </dgm:pt>
    <dgm:pt modelId="{8997EAD5-AD65-44CF-AEBE-5637F344B610}">
      <dgm:prSet custT="1"/>
      <dgm:spPr/>
      <dgm:t>
        <a:bodyPr/>
        <a:lstStyle/>
        <a:p>
          <a:pPr algn="ctr">
            <a:buNone/>
          </a:pPr>
          <a:r>
            <a:rPr lang="en-IN" sz="1800" dirty="0"/>
            <a:t>Sales &amp; Premium Performance</a:t>
          </a:r>
        </a:p>
      </dgm:t>
    </dgm:pt>
    <dgm:pt modelId="{7083FE0F-3895-4EFB-8445-CCAC6D3CC50C}" type="parTrans" cxnId="{CF69A13C-E6A1-4034-809C-7BE4AD043282}">
      <dgm:prSet/>
      <dgm:spPr/>
      <dgm:t>
        <a:bodyPr/>
        <a:lstStyle/>
        <a:p>
          <a:endParaRPr lang="en-IN"/>
        </a:p>
      </dgm:t>
    </dgm:pt>
    <dgm:pt modelId="{70AA7DBF-4FAE-4D2E-8D6B-7FA1DF671D70}" type="sibTrans" cxnId="{CF69A13C-E6A1-4034-809C-7BE4AD043282}">
      <dgm:prSet phldrT="2" phldr="0"/>
      <dgm:spPr/>
      <dgm:t>
        <a:bodyPr/>
        <a:lstStyle/>
        <a:p>
          <a:r>
            <a:rPr lang="en-IN"/>
            <a:t>2</a:t>
          </a:r>
        </a:p>
      </dgm:t>
    </dgm:pt>
    <dgm:pt modelId="{6522FFC3-3E30-4E63-8A46-B6CD0681D814}">
      <dgm:prSet custT="1"/>
      <dgm:spPr/>
      <dgm:t>
        <a:bodyPr/>
        <a:lstStyle/>
        <a:p>
          <a:pPr algn="ctr">
            <a:buNone/>
          </a:pPr>
          <a:r>
            <a:rPr lang="en-IN" sz="1800" dirty="0"/>
            <a:t>Channel, Product &amp; Campaign Analysis</a:t>
          </a:r>
          <a:endParaRPr lang="en-IN" sz="1800" b="0" i="0" dirty="0"/>
        </a:p>
      </dgm:t>
    </dgm:pt>
    <dgm:pt modelId="{EA80F067-A9F4-4FDA-99EB-22CE18C2781B}" type="parTrans" cxnId="{E6DFDA34-F717-40C9-99E4-1E703F47EF4A}">
      <dgm:prSet/>
      <dgm:spPr/>
      <dgm:t>
        <a:bodyPr/>
        <a:lstStyle/>
        <a:p>
          <a:endParaRPr lang="en-IN"/>
        </a:p>
      </dgm:t>
    </dgm:pt>
    <dgm:pt modelId="{31FD0E3E-CBD6-49BD-963E-E9CCE4813B93}" type="sibTrans" cxnId="{E6DFDA34-F717-40C9-99E4-1E703F47EF4A}">
      <dgm:prSet phldrT="3" phldr="0"/>
      <dgm:spPr/>
      <dgm:t>
        <a:bodyPr/>
        <a:lstStyle/>
        <a:p>
          <a:r>
            <a:rPr lang="en-IN"/>
            <a:t>3</a:t>
          </a:r>
        </a:p>
      </dgm:t>
    </dgm:pt>
    <dgm:pt modelId="{737932FD-0775-4F81-B795-DE96A8FD2619}" type="pres">
      <dgm:prSet presAssocID="{6BBB4844-A08C-4264-B64F-69E3BC3A8E8B}" presName="Name0" presStyleCnt="0">
        <dgm:presLayoutVars>
          <dgm:animLvl val="lvl"/>
          <dgm:resizeHandles val="exact"/>
        </dgm:presLayoutVars>
      </dgm:prSet>
      <dgm:spPr/>
    </dgm:pt>
    <dgm:pt modelId="{23F5CE34-B71C-4771-A7A3-5F5FF12EB9F8}" type="pres">
      <dgm:prSet presAssocID="{788A2E6F-1511-4007-A21E-74297AFEA54C}" presName="compositeNode" presStyleCnt="0">
        <dgm:presLayoutVars>
          <dgm:bulletEnabled val="1"/>
        </dgm:presLayoutVars>
      </dgm:prSet>
      <dgm:spPr/>
    </dgm:pt>
    <dgm:pt modelId="{7436AD78-11F8-4D78-AD15-EB75AB6EDBAC}" type="pres">
      <dgm:prSet presAssocID="{788A2E6F-1511-4007-A21E-74297AFEA54C}" presName="bgRect" presStyleLbl="bgAccFollowNode1" presStyleIdx="0" presStyleCnt="3"/>
      <dgm:spPr/>
    </dgm:pt>
    <dgm:pt modelId="{79E872FA-2256-44D3-8C45-3316277BBE40}" type="pres">
      <dgm:prSet presAssocID="{03584ED4-947C-4EDA-8FCB-DD09974E010F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A6CA3B62-C4DB-4DD5-8F8A-D9D6C30CBEB6}" type="pres">
      <dgm:prSet presAssocID="{788A2E6F-1511-4007-A21E-74297AFEA54C}" presName="bottomLine" presStyleLbl="alignNode1" presStyleIdx="1" presStyleCnt="6">
        <dgm:presLayoutVars/>
      </dgm:prSet>
      <dgm:spPr/>
    </dgm:pt>
    <dgm:pt modelId="{1585257E-1C53-45DD-9536-E3622EC12951}" type="pres">
      <dgm:prSet presAssocID="{788A2E6F-1511-4007-A21E-74297AFEA54C}" presName="nodeText" presStyleLbl="bgAccFollowNode1" presStyleIdx="0" presStyleCnt="3">
        <dgm:presLayoutVars>
          <dgm:bulletEnabled val="1"/>
        </dgm:presLayoutVars>
      </dgm:prSet>
      <dgm:spPr/>
    </dgm:pt>
    <dgm:pt modelId="{966B9BFE-8D44-488A-99DE-FF45043D0E4C}" type="pres">
      <dgm:prSet presAssocID="{03584ED4-947C-4EDA-8FCB-DD09974E010F}" presName="sibTrans" presStyleCnt="0"/>
      <dgm:spPr/>
    </dgm:pt>
    <dgm:pt modelId="{C1E2A79D-CFB1-46AF-B5AF-978C169897AF}" type="pres">
      <dgm:prSet presAssocID="{8997EAD5-AD65-44CF-AEBE-5637F344B610}" presName="compositeNode" presStyleCnt="0">
        <dgm:presLayoutVars>
          <dgm:bulletEnabled val="1"/>
        </dgm:presLayoutVars>
      </dgm:prSet>
      <dgm:spPr/>
    </dgm:pt>
    <dgm:pt modelId="{01484FED-1ADF-454C-88CD-0C69E160BC18}" type="pres">
      <dgm:prSet presAssocID="{8997EAD5-AD65-44CF-AEBE-5637F344B610}" presName="bgRect" presStyleLbl="bgAccFollowNode1" presStyleIdx="1" presStyleCnt="3"/>
      <dgm:spPr/>
    </dgm:pt>
    <dgm:pt modelId="{91C1BCBD-B27E-4139-9452-2897063C71F1}" type="pres">
      <dgm:prSet presAssocID="{70AA7DBF-4FAE-4D2E-8D6B-7FA1DF671D7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26C83171-52D2-4CB3-8EFD-06780D443F2F}" type="pres">
      <dgm:prSet presAssocID="{8997EAD5-AD65-44CF-AEBE-5637F344B610}" presName="bottomLine" presStyleLbl="alignNode1" presStyleIdx="3" presStyleCnt="6">
        <dgm:presLayoutVars/>
      </dgm:prSet>
      <dgm:spPr/>
    </dgm:pt>
    <dgm:pt modelId="{106EBAFC-291B-4577-B6F1-7CB872D54CAA}" type="pres">
      <dgm:prSet presAssocID="{8997EAD5-AD65-44CF-AEBE-5637F344B610}" presName="nodeText" presStyleLbl="bgAccFollowNode1" presStyleIdx="1" presStyleCnt="3">
        <dgm:presLayoutVars>
          <dgm:bulletEnabled val="1"/>
        </dgm:presLayoutVars>
      </dgm:prSet>
      <dgm:spPr/>
    </dgm:pt>
    <dgm:pt modelId="{D7804567-DF5B-460A-86B9-CA88CD5BE14E}" type="pres">
      <dgm:prSet presAssocID="{70AA7DBF-4FAE-4D2E-8D6B-7FA1DF671D70}" presName="sibTrans" presStyleCnt="0"/>
      <dgm:spPr/>
    </dgm:pt>
    <dgm:pt modelId="{8996B88D-321E-417C-804A-AE7BC7D94430}" type="pres">
      <dgm:prSet presAssocID="{6522FFC3-3E30-4E63-8A46-B6CD0681D814}" presName="compositeNode" presStyleCnt="0">
        <dgm:presLayoutVars>
          <dgm:bulletEnabled val="1"/>
        </dgm:presLayoutVars>
      </dgm:prSet>
      <dgm:spPr/>
    </dgm:pt>
    <dgm:pt modelId="{C9A5CEBA-7204-4AC1-A56C-F1B071CD7461}" type="pres">
      <dgm:prSet presAssocID="{6522FFC3-3E30-4E63-8A46-B6CD0681D814}" presName="bgRect" presStyleLbl="bgAccFollowNode1" presStyleIdx="2" presStyleCnt="3"/>
      <dgm:spPr/>
    </dgm:pt>
    <dgm:pt modelId="{1CAAB5AB-1BB9-402C-98E2-CE5BDD047A72}" type="pres">
      <dgm:prSet presAssocID="{31FD0E3E-CBD6-49BD-963E-E9CCE4813B93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9A4AC3ED-608D-4094-8C64-F3C18C5731F5}" type="pres">
      <dgm:prSet presAssocID="{6522FFC3-3E30-4E63-8A46-B6CD0681D814}" presName="bottomLine" presStyleLbl="alignNode1" presStyleIdx="5" presStyleCnt="6">
        <dgm:presLayoutVars/>
      </dgm:prSet>
      <dgm:spPr/>
    </dgm:pt>
    <dgm:pt modelId="{A59226C2-FFB5-4F66-8290-208B7BB91E5A}" type="pres">
      <dgm:prSet presAssocID="{6522FFC3-3E30-4E63-8A46-B6CD0681D81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1AFC621D-0C8B-454A-A6C2-0730DC5C8A0B}" type="presOf" srcId="{6BBB4844-A08C-4264-B64F-69E3BC3A8E8B}" destId="{737932FD-0775-4F81-B795-DE96A8FD2619}" srcOrd="0" destOrd="0" presId="urn:microsoft.com/office/officeart/2016/7/layout/BasicLinearProcessNumbered"/>
    <dgm:cxn modelId="{67C02722-F68D-46DE-AE09-761FA0402B37}" type="presOf" srcId="{788A2E6F-1511-4007-A21E-74297AFEA54C}" destId="{7436AD78-11F8-4D78-AD15-EB75AB6EDBAC}" srcOrd="0" destOrd="0" presId="urn:microsoft.com/office/officeart/2016/7/layout/BasicLinearProcessNumbered"/>
    <dgm:cxn modelId="{E6DFDA34-F717-40C9-99E4-1E703F47EF4A}" srcId="{6BBB4844-A08C-4264-B64F-69E3BC3A8E8B}" destId="{6522FFC3-3E30-4E63-8A46-B6CD0681D814}" srcOrd="2" destOrd="0" parTransId="{EA80F067-A9F4-4FDA-99EB-22CE18C2781B}" sibTransId="{31FD0E3E-CBD6-49BD-963E-E9CCE4813B93}"/>
    <dgm:cxn modelId="{3B8B173C-8B11-4F22-8891-DEC702C4DA3B}" type="presOf" srcId="{8997EAD5-AD65-44CF-AEBE-5637F344B610}" destId="{01484FED-1ADF-454C-88CD-0C69E160BC18}" srcOrd="0" destOrd="0" presId="urn:microsoft.com/office/officeart/2016/7/layout/BasicLinearProcessNumbered"/>
    <dgm:cxn modelId="{CF69A13C-E6A1-4034-809C-7BE4AD043282}" srcId="{6BBB4844-A08C-4264-B64F-69E3BC3A8E8B}" destId="{8997EAD5-AD65-44CF-AEBE-5637F344B610}" srcOrd="1" destOrd="0" parTransId="{7083FE0F-3895-4EFB-8445-CCAC6D3CC50C}" sibTransId="{70AA7DBF-4FAE-4D2E-8D6B-7FA1DF671D70}"/>
    <dgm:cxn modelId="{1886125D-A46F-44BC-8CC3-66A058E6FF2A}" type="presOf" srcId="{31FD0E3E-CBD6-49BD-963E-E9CCE4813B93}" destId="{1CAAB5AB-1BB9-402C-98E2-CE5BDD047A72}" srcOrd="0" destOrd="0" presId="urn:microsoft.com/office/officeart/2016/7/layout/BasicLinearProcessNumbered"/>
    <dgm:cxn modelId="{1F361241-D81D-4F90-9B34-87A4DAFE2C5F}" type="presOf" srcId="{6522FFC3-3E30-4E63-8A46-B6CD0681D814}" destId="{C9A5CEBA-7204-4AC1-A56C-F1B071CD7461}" srcOrd="0" destOrd="0" presId="urn:microsoft.com/office/officeart/2016/7/layout/BasicLinearProcessNumbered"/>
    <dgm:cxn modelId="{23A80880-A968-46C9-ACDA-37D294BC7670}" type="presOf" srcId="{6522FFC3-3E30-4E63-8A46-B6CD0681D814}" destId="{A59226C2-FFB5-4F66-8290-208B7BB91E5A}" srcOrd="1" destOrd="0" presId="urn:microsoft.com/office/officeart/2016/7/layout/BasicLinearProcessNumbered"/>
    <dgm:cxn modelId="{73675A80-D351-486C-8913-0EFFFFB089D0}" type="presOf" srcId="{8997EAD5-AD65-44CF-AEBE-5637F344B610}" destId="{106EBAFC-291B-4577-B6F1-7CB872D54CAA}" srcOrd="1" destOrd="0" presId="urn:microsoft.com/office/officeart/2016/7/layout/BasicLinearProcessNumbered"/>
    <dgm:cxn modelId="{92A1D1C2-9019-40A9-8B8B-EAD4B54E38FD}" type="presOf" srcId="{70AA7DBF-4FAE-4D2E-8D6B-7FA1DF671D70}" destId="{91C1BCBD-B27E-4139-9452-2897063C71F1}" srcOrd="0" destOrd="0" presId="urn:microsoft.com/office/officeart/2016/7/layout/BasicLinearProcessNumbered"/>
    <dgm:cxn modelId="{5A32C0C6-C189-46F3-BC5E-A2F8F7FA8B3E}" type="presOf" srcId="{03584ED4-947C-4EDA-8FCB-DD09974E010F}" destId="{79E872FA-2256-44D3-8C45-3316277BBE40}" srcOrd="0" destOrd="0" presId="urn:microsoft.com/office/officeart/2016/7/layout/BasicLinearProcessNumbered"/>
    <dgm:cxn modelId="{7494E1D2-93F3-4691-B3BB-34C2C19114E5}" type="presOf" srcId="{788A2E6F-1511-4007-A21E-74297AFEA54C}" destId="{1585257E-1C53-45DD-9536-E3622EC12951}" srcOrd="1" destOrd="0" presId="urn:microsoft.com/office/officeart/2016/7/layout/BasicLinearProcessNumbered"/>
    <dgm:cxn modelId="{6BEEADE8-CFD4-4096-891C-E38F2E51B574}" srcId="{6BBB4844-A08C-4264-B64F-69E3BC3A8E8B}" destId="{788A2E6F-1511-4007-A21E-74297AFEA54C}" srcOrd="0" destOrd="0" parTransId="{86B8320C-EA6D-49EF-85EF-035BA49B4ABB}" sibTransId="{03584ED4-947C-4EDA-8FCB-DD09974E010F}"/>
    <dgm:cxn modelId="{15DB9A87-0F42-422A-AB47-D01DAD0D95A8}" type="presParOf" srcId="{737932FD-0775-4F81-B795-DE96A8FD2619}" destId="{23F5CE34-B71C-4771-A7A3-5F5FF12EB9F8}" srcOrd="0" destOrd="0" presId="urn:microsoft.com/office/officeart/2016/7/layout/BasicLinearProcessNumbered"/>
    <dgm:cxn modelId="{3E0E9CF5-CD88-4445-B6F9-5DC429FFF994}" type="presParOf" srcId="{23F5CE34-B71C-4771-A7A3-5F5FF12EB9F8}" destId="{7436AD78-11F8-4D78-AD15-EB75AB6EDBAC}" srcOrd="0" destOrd="0" presId="urn:microsoft.com/office/officeart/2016/7/layout/BasicLinearProcessNumbered"/>
    <dgm:cxn modelId="{C370D8BC-504E-493B-B442-616A0607B16D}" type="presParOf" srcId="{23F5CE34-B71C-4771-A7A3-5F5FF12EB9F8}" destId="{79E872FA-2256-44D3-8C45-3316277BBE40}" srcOrd="1" destOrd="0" presId="urn:microsoft.com/office/officeart/2016/7/layout/BasicLinearProcessNumbered"/>
    <dgm:cxn modelId="{56A4126A-41C2-40C2-ABF4-C4CFE892F90D}" type="presParOf" srcId="{23F5CE34-B71C-4771-A7A3-5F5FF12EB9F8}" destId="{A6CA3B62-C4DB-4DD5-8F8A-D9D6C30CBEB6}" srcOrd="2" destOrd="0" presId="urn:microsoft.com/office/officeart/2016/7/layout/BasicLinearProcessNumbered"/>
    <dgm:cxn modelId="{79C3BB84-32BB-41EB-B1BF-A68F1C8C37F0}" type="presParOf" srcId="{23F5CE34-B71C-4771-A7A3-5F5FF12EB9F8}" destId="{1585257E-1C53-45DD-9536-E3622EC12951}" srcOrd="3" destOrd="0" presId="urn:microsoft.com/office/officeart/2016/7/layout/BasicLinearProcessNumbered"/>
    <dgm:cxn modelId="{7D13D266-54DA-442E-80C1-39CBE37647BF}" type="presParOf" srcId="{737932FD-0775-4F81-B795-DE96A8FD2619}" destId="{966B9BFE-8D44-488A-99DE-FF45043D0E4C}" srcOrd="1" destOrd="0" presId="urn:microsoft.com/office/officeart/2016/7/layout/BasicLinearProcessNumbered"/>
    <dgm:cxn modelId="{06DCC7EC-FE79-46BF-865E-95E8EA3CDA0C}" type="presParOf" srcId="{737932FD-0775-4F81-B795-DE96A8FD2619}" destId="{C1E2A79D-CFB1-46AF-B5AF-978C169897AF}" srcOrd="2" destOrd="0" presId="urn:microsoft.com/office/officeart/2016/7/layout/BasicLinearProcessNumbered"/>
    <dgm:cxn modelId="{80691BF4-DC1F-4B58-B067-4DC2F50DE5CA}" type="presParOf" srcId="{C1E2A79D-CFB1-46AF-B5AF-978C169897AF}" destId="{01484FED-1ADF-454C-88CD-0C69E160BC18}" srcOrd="0" destOrd="0" presId="urn:microsoft.com/office/officeart/2016/7/layout/BasicLinearProcessNumbered"/>
    <dgm:cxn modelId="{FAE5CB5B-6704-4D43-9654-D694F32B8B0A}" type="presParOf" srcId="{C1E2A79D-CFB1-46AF-B5AF-978C169897AF}" destId="{91C1BCBD-B27E-4139-9452-2897063C71F1}" srcOrd="1" destOrd="0" presId="urn:microsoft.com/office/officeart/2016/7/layout/BasicLinearProcessNumbered"/>
    <dgm:cxn modelId="{351696FA-9750-4FF1-9E80-A6CC7A698356}" type="presParOf" srcId="{C1E2A79D-CFB1-46AF-B5AF-978C169897AF}" destId="{26C83171-52D2-4CB3-8EFD-06780D443F2F}" srcOrd="2" destOrd="0" presId="urn:microsoft.com/office/officeart/2016/7/layout/BasicLinearProcessNumbered"/>
    <dgm:cxn modelId="{80B8E25C-691B-4E0F-B7A3-3D26586376AC}" type="presParOf" srcId="{C1E2A79D-CFB1-46AF-B5AF-978C169897AF}" destId="{106EBAFC-291B-4577-B6F1-7CB872D54CAA}" srcOrd="3" destOrd="0" presId="urn:microsoft.com/office/officeart/2016/7/layout/BasicLinearProcessNumbered"/>
    <dgm:cxn modelId="{44E35262-1431-43D9-B6BE-24F80DB5E68A}" type="presParOf" srcId="{737932FD-0775-4F81-B795-DE96A8FD2619}" destId="{D7804567-DF5B-460A-86B9-CA88CD5BE14E}" srcOrd="3" destOrd="0" presId="urn:microsoft.com/office/officeart/2016/7/layout/BasicLinearProcessNumbered"/>
    <dgm:cxn modelId="{6F1D14AA-FDE0-42D3-BEA2-50CE35E9CDD7}" type="presParOf" srcId="{737932FD-0775-4F81-B795-DE96A8FD2619}" destId="{8996B88D-321E-417C-804A-AE7BC7D94430}" srcOrd="4" destOrd="0" presId="urn:microsoft.com/office/officeart/2016/7/layout/BasicLinearProcessNumbered"/>
    <dgm:cxn modelId="{D084D454-45EF-4538-B4A2-017B54D2F8A0}" type="presParOf" srcId="{8996B88D-321E-417C-804A-AE7BC7D94430}" destId="{C9A5CEBA-7204-4AC1-A56C-F1B071CD7461}" srcOrd="0" destOrd="0" presId="urn:microsoft.com/office/officeart/2016/7/layout/BasicLinearProcessNumbered"/>
    <dgm:cxn modelId="{E1EAAFFD-2ED5-4EA6-B60D-2041C0365FBC}" type="presParOf" srcId="{8996B88D-321E-417C-804A-AE7BC7D94430}" destId="{1CAAB5AB-1BB9-402C-98E2-CE5BDD047A72}" srcOrd="1" destOrd="0" presId="urn:microsoft.com/office/officeart/2016/7/layout/BasicLinearProcessNumbered"/>
    <dgm:cxn modelId="{16812367-5613-46F3-9207-908972984AF7}" type="presParOf" srcId="{8996B88D-321E-417C-804A-AE7BC7D94430}" destId="{9A4AC3ED-608D-4094-8C64-F3C18C5731F5}" srcOrd="2" destOrd="0" presId="urn:microsoft.com/office/officeart/2016/7/layout/BasicLinearProcessNumbered"/>
    <dgm:cxn modelId="{BCCA9C57-0A14-4A04-8237-055E80C7120A}" type="presParOf" srcId="{8996B88D-321E-417C-804A-AE7BC7D94430}" destId="{A59226C2-FFB5-4F66-8290-208B7BB91E5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F615B-DDAA-448A-B846-A9256199B387}">
      <dsp:nvSpPr>
        <dsp:cNvPr id="0" name=""/>
        <dsp:cNvSpPr/>
      </dsp:nvSpPr>
      <dsp:spPr>
        <a:xfrm>
          <a:off x="0" y="0"/>
          <a:ext cx="3414946" cy="213620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 err="1"/>
            <a:t>Analyze</a:t>
          </a:r>
          <a:r>
            <a:rPr lang="en-IN" sz="2200" kern="1200" dirty="0"/>
            <a:t> leads through different funnel stages.</a:t>
          </a:r>
        </a:p>
      </dsp:txBody>
      <dsp:txXfrm>
        <a:off x="0" y="811759"/>
        <a:ext cx="3414946" cy="1281725"/>
      </dsp:txXfrm>
    </dsp:sp>
    <dsp:sp modelId="{63E36F5E-E13F-4AC3-81EA-3F919EA57D0F}">
      <dsp:nvSpPr>
        <dsp:cNvPr id="0" name=""/>
        <dsp:cNvSpPr/>
      </dsp:nvSpPr>
      <dsp:spPr>
        <a:xfrm>
          <a:off x="1387041" y="213620"/>
          <a:ext cx="640862" cy="6408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64" tIns="12700" rIns="49964" bIns="127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1</a:t>
          </a:r>
        </a:p>
      </dsp:txBody>
      <dsp:txXfrm>
        <a:off x="1480893" y="307472"/>
        <a:ext cx="453158" cy="453158"/>
      </dsp:txXfrm>
    </dsp:sp>
    <dsp:sp modelId="{F98A22B5-B0E8-4247-8BA5-551038A57CCD}">
      <dsp:nvSpPr>
        <dsp:cNvPr id="0" name=""/>
        <dsp:cNvSpPr/>
      </dsp:nvSpPr>
      <dsp:spPr>
        <a:xfrm>
          <a:off x="0" y="2136137"/>
          <a:ext cx="3414946" cy="72"/>
        </a:xfrm>
        <a:prstGeom prst="rect">
          <a:avLst/>
        </a:prstGeom>
        <a:solidFill>
          <a:schemeClr val="accent2">
            <a:hueOff val="-826793"/>
            <a:satOff val="-6148"/>
            <a:lumOff val="-6824"/>
            <a:alphaOff val="0"/>
          </a:schemeClr>
        </a:solidFill>
        <a:ln w="12700" cap="flat" cmpd="sng" algn="ctr">
          <a:solidFill>
            <a:schemeClr val="accent2">
              <a:hueOff val="-826793"/>
              <a:satOff val="-6148"/>
              <a:lumOff val="-6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DACE5-18AD-4935-B040-661E1EE871AD}">
      <dsp:nvSpPr>
        <dsp:cNvPr id="0" name=""/>
        <dsp:cNvSpPr/>
      </dsp:nvSpPr>
      <dsp:spPr>
        <a:xfrm>
          <a:off x="3856225" y="0"/>
          <a:ext cx="3414946" cy="2136209"/>
        </a:xfrm>
        <a:prstGeom prst="rect">
          <a:avLst/>
        </a:prstGeom>
        <a:solidFill>
          <a:schemeClr val="accent2">
            <a:tint val="40000"/>
            <a:alpha val="90000"/>
            <a:hueOff val="-1823344"/>
            <a:satOff val="-21819"/>
            <a:lumOff val="-349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823344"/>
              <a:satOff val="-21819"/>
              <a:lumOff val="-34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 err="1"/>
            <a:t>Analyze</a:t>
          </a:r>
          <a:r>
            <a:rPr lang="en-IN" sz="2200" kern="1200" dirty="0"/>
            <a:t> premium revenue.</a:t>
          </a:r>
        </a:p>
      </dsp:txBody>
      <dsp:txXfrm>
        <a:off x="3856225" y="811759"/>
        <a:ext cx="3414946" cy="1281725"/>
      </dsp:txXfrm>
    </dsp:sp>
    <dsp:sp modelId="{64DBA17E-1500-4389-BC4E-A5F7AD092A70}">
      <dsp:nvSpPr>
        <dsp:cNvPr id="0" name=""/>
        <dsp:cNvSpPr/>
      </dsp:nvSpPr>
      <dsp:spPr>
        <a:xfrm>
          <a:off x="5143483" y="213620"/>
          <a:ext cx="640862" cy="640862"/>
        </a:xfrm>
        <a:prstGeom prst="ellipse">
          <a:avLst/>
        </a:prstGeom>
        <a:solidFill>
          <a:schemeClr val="accent2">
            <a:hueOff val="-1653587"/>
            <a:satOff val="-12295"/>
            <a:lumOff val="-13648"/>
            <a:alphaOff val="0"/>
          </a:schemeClr>
        </a:solidFill>
        <a:ln w="12700" cap="flat" cmpd="sng" algn="ctr">
          <a:solidFill>
            <a:schemeClr val="accent2">
              <a:hueOff val="-1653587"/>
              <a:satOff val="-12295"/>
              <a:lumOff val="-136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64" tIns="12700" rIns="49964" bIns="127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2</a:t>
          </a:r>
        </a:p>
      </dsp:txBody>
      <dsp:txXfrm>
        <a:off x="5237335" y="307472"/>
        <a:ext cx="453158" cy="453158"/>
      </dsp:txXfrm>
    </dsp:sp>
    <dsp:sp modelId="{9ABF6EB9-1697-47B6-9BD3-21D6AE3CC441}">
      <dsp:nvSpPr>
        <dsp:cNvPr id="0" name=""/>
        <dsp:cNvSpPr/>
      </dsp:nvSpPr>
      <dsp:spPr>
        <a:xfrm>
          <a:off x="3756441" y="2136137"/>
          <a:ext cx="3414946" cy="72"/>
        </a:xfrm>
        <a:prstGeom prst="rect">
          <a:avLst/>
        </a:prstGeom>
        <a:solidFill>
          <a:schemeClr val="accent2">
            <a:hueOff val="-2480380"/>
            <a:satOff val="-18443"/>
            <a:lumOff val="-20471"/>
            <a:alphaOff val="0"/>
          </a:schemeClr>
        </a:solidFill>
        <a:ln w="12700" cap="flat" cmpd="sng" algn="ctr">
          <a:solidFill>
            <a:schemeClr val="accent2">
              <a:hueOff val="-2480380"/>
              <a:satOff val="-18443"/>
              <a:lumOff val="-20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738C6-CB97-4A38-B714-20F9D5BFAAA7}">
      <dsp:nvSpPr>
        <dsp:cNvPr id="0" name=""/>
        <dsp:cNvSpPr/>
      </dsp:nvSpPr>
      <dsp:spPr>
        <a:xfrm>
          <a:off x="7512882" y="0"/>
          <a:ext cx="3414946" cy="2136209"/>
        </a:xfrm>
        <a:prstGeom prst="rect">
          <a:avLst/>
        </a:prstGeom>
        <a:solidFill>
          <a:schemeClr val="accent2">
            <a:tint val="40000"/>
            <a:alpha val="90000"/>
            <a:hueOff val="-3646688"/>
            <a:satOff val="-43637"/>
            <a:lumOff val="-699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646688"/>
              <a:satOff val="-43637"/>
              <a:lumOff val="-69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Evaluate campaign performance.</a:t>
          </a:r>
        </a:p>
      </dsp:txBody>
      <dsp:txXfrm>
        <a:off x="7512882" y="811759"/>
        <a:ext cx="3414946" cy="1281725"/>
      </dsp:txXfrm>
    </dsp:sp>
    <dsp:sp modelId="{59B89A29-DBE7-457B-8999-59C9F3F24635}">
      <dsp:nvSpPr>
        <dsp:cNvPr id="0" name=""/>
        <dsp:cNvSpPr/>
      </dsp:nvSpPr>
      <dsp:spPr>
        <a:xfrm>
          <a:off x="8899924" y="213620"/>
          <a:ext cx="640862" cy="640862"/>
        </a:xfrm>
        <a:prstGeom prst="ellipse">
          <a:avLst/>
        </a:prstGeom>
        <a:solidFill>
          <a:schemeClr val="accent2">
            <a:hueOff val="-3307173"/>
            <a:satOff val="-24590"/>
            <a:lumOff val="-27295"/>
            <a:alphaOff val="0"/>
          </a:schemeClr>
        </a:solidFill>
        <a:ln w="12700" cap="flat" cmpd="sng" algn="ctr">
          <a:solidFill>
            <a:schemeClr val="accent2">
              <a:hueOff val="-3307173"/>
              <a:satOff val="-24590"/>
              <a:lumOff val="-272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64" tIns="12700" rIns="49964" bIns="127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3</a:t>
          </a:r>
        </a:p>
      </dsp:txBody>
      <dsp:txXfrm>
        <a:off x="8993776" y="307472"/>
        <a:ext cx="453158" cy="453158"/>
      </dsp:txXfrm>
    </dsp:sp>
    <dsp:sp modelId="{06311FE3-F9C2-4479-A30F-FC8343FC1073}">
      <dsp:nvSpPr>
        <dsp:cNvPr id="0" name=""/>
        <dsp:cNvSpPr/>
      </dsp:nvSpPr>
      <dsp:spPr>
        <a:xfrm>
          <a:off x="7512882" y="2136137"/>
          <a:ext cx="3414946" cy="72"/>
        </a:xfrm>
        <a:prstGeom prst="rect">
          <a:avLst/>
        </a:prstGeom>
        <a:solidFill>
          <a:schemeClr val="accent2">
            <a:hueOff val="-4133967"/>
            <a:satOff val="-30738"/>
            <a:lumOff val="-34119"/>
            <a:alphaOff val="0"/>
          </a:schemeClr>
        </a:solidFill>
        <a:ln w="12700" cap="flat" cmpd="sng" algn="ctr">
          <a:solidFill>
            <a:schemeClr val="accent2">
              <a:hueOff val="-4133967"/>
              <a:satOff val="-30738"/>
              <a:lumOff val="-341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6AD78-11F8-4D78-AD15-EB75AB6EDBAC}">
      <dsp:nvSpPr>
        <dsp:cNvPr id="0" name=""/>
        <dsp:cNvSpPr/>
      </dsp:nvSpPr>
      <dsp:spPr>
        <a:xfrm>
          <a:off x="0" y="0"/>
          <a:ext cx="3414946" cy="2136209"/>
        </a:xfrm>
        <a:prstGeom prst="rect">
          <a:avLst/>
        </a:prstGeom>
        <a:solidFill>
          <a:srgbClr val="7030A0">
            <a:alpha val="90000"/>
          </a:srgb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Conversion Funnel Monitoring</a:t>
          </a:r>
          <a:endParaRPr lang="en-US" sz="1800" kern="1200" dirty="0">
            <a:solidFill>
              <a:schemeClr val="bg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0" y="811759"/>
        <a:ext cx="3414946" cy="1281725"/>
      </dsp:txXfrm>
    </dsp:sp>
    <dsp:sp modelId="{79E872FA-2256-44D3-8C45-3316277BBE40}">
      <dsp:nvSpPr>
        <dsp:cNvPr id="0" name=""/>
        <dsp:cNvSpPr/>
      </dsp:nvSpPr>
      <dsp:spPr>
        <a:xfrm>
          <a:off x="1387041" y="213620"/>
          <a:ext cx="640862" cy="640862"/>
        </a:xfrm>
        <a:prstGeom prst="ellipse">
          <a:avLst/>
        </a:prstGeom>
        <a:solidFill>
          <a:srgbClr val="7030A0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64" tIns="12700" rIns="49964" bIns="127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</a:t>
          </a:r>
        </a:p>
      </dsp:txBody>
      <dsp:txXfrm>
        <a:off x="1480893" y="307472"/>
        <a:ext cx="453158" cy="453158"/>
      </dsp:txXfrm>
    </dsp:sp>
    <dsp:sp modelId="{A6CA3B62-C4DB-4DD5-8F8A-D9D6C30CBEB6}">
      <dsp:nvSpPr>
        <dsp:cNvPr id="0" name=""/>
        <dsp:cNvSpPr/>
      </dsp:nvSpPr>
      <dsp:spPr>
        <a:xfrm>
          <a:off x="0" y="2136137"/>
          <a:ext cx="3414946" cy="72"/>
        </a:xfrm>
        <a:prstGeom prst="rect">
          <a:avLst/>
        </a:prstGeom>
        <a:solidFill>
          <a:schemeClr val="accent2">
            <a:hueOff val="-826793"/>
            <a:satOff val="-6148"/>
            <a:lumOff val="-6824"/>
            <a:alphaOff val="0"/>
          </a:schemeClr>
        </a:solidFill>
        <a:ln w="12700" cap="flat" cmpd="sng" algn="ctr">
          <a:solidFill>
            <a:schemeClr val="accent2">
              <a:hueOff val="-826793"/>
              <a:satOff val="-6148"/>
              <a:lumOff val="-6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84FED-1ADF-454C-88CD-0C69E160BC18}">
      <dsp:nvSpPr>
        <dsp:cNvPr id="0" name=""/>
        <dsp:cNvSpPr/>
      </dsp:nvSpPr>
      <dsp:spPr>
        <a:xfrm>
          <a:off x="3756441" y="0"/>
          <a:ext cx="3414946" cy="2136209"/>
        </a:xfrm>
        <a:prstGeom prst="rect">
          <a:avLst/>
        </a:prstGeom>
        <a:solidFill>
          <a:schemeClr val="accent2">
            <a:tint val="40000"/>
            <a:alpha val="90000"/>
            <a:hueOff val="-1823344"/>
            <a:satOff val="-21819"/>
            <a:lumOff val="-349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823344"/>
              <a:satOff val="-21819"/>
              <a:lumOff val="-34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Sales &amp; Premium Performance</a:t>
          </a:r>
        </a:p>
      </dsp:txBody>
      <dsp:txXfrm>
        <a:off x="3756441" y="811759"/>
        <a:ext cx="3414946" cy="1281725"/>
      </dsp:txXfrm>
    </dsp:sp>
    <dsp:sp modelId="{91C1BCBD-B27E-4139-9452-2897063C71F1}">
      <dsp:nvSpPr>
        <dsp:cNvPr id="0" name=""/>
        <dsp:cNvSpPr/>
      </dsp:nvSpPr>
      <dsp:spPr>
        <a:xfrm>
          <a:off x="5143483" y="213620"/>
          <a:ext cx="640862" cy="640862"/>
        </a:xfrm>
        <a:prstGeom prst="ellipse">
          <a:avLst/>
        </a:prstGeom>
        <a:solidFill>
          <a:schemeClr val="accent2">
            <a:hueOff val="-1653587"/>
            <a:satOff val="-12295"/>
            <a:lumOff val="-13648"/>
            <a:alphaOff val="0"/>
          </a:schemeClr>
        </a:solidFill>
        <a:ln w="12700" cap="flat" cmpd="sng" algn="ctr">
          <a:solidFill>
            <a:schemeClr val="accent2">
              <a:hueOff val="-1653587"/>
              <a:satOff val="-12295"/>
              <a:lumOff val="-136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64" tIns="12700" rIns="49964" bIns="127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2</a:t>
          </a:r>
        </a:p>
      </dsp:txBody>
      <dsp:txXfrm>
        <a:off x="5237335" y="307472"/>
        <a:ext cx="453158" cy="453158"/>
      </dsp:txXfrm>
    </dsp:sp>
    <dsp:sp modelId="{26C83171-52D2-4CB3-8EFD-06780D443F2F}">
      <dsp:nvSpPr>
        <dsp:cNvPr id="0" name=""/>
        <dsp:cNvSpPr/>
      </dsp:nvSpPr>
      <dsp:spPr>
        <a:xfrm>
          <a:off x="3756441" y="2136137"/>
          <a:ext cx="3414946" cy="72"/>
        </a:xfrm>
        <a:prstGeom prst="rect">
          <a:avLst/>
        </a:prstGeom>
        <a:solidFill>
          <a:schemeClr val="accent2">
            <a:hueOff val="-2480380"/>
            <a:satOff val="-18443"/>
            <a:lumOff val="-20471"/>
            <a:alphaOff val="0"/>
          </a:schemeClr>
        </a:solidFill>
        <a:ln w="12700" cap="flat" cmpd="sng" algn="ctr">
          <a:solidFill>
            <a:schemeClr val="accent2">
              <a:hueOff val="-2480380"/>
              <a:satOff val="-18443"/>
              <a:lumOff val="-20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5CEBA-7204-4AC1-A56C-F1B071CD7461}">
      <dsp:nvSpPr>
        <dsp:cNvPr id="0" name=""/>
        <dsp:cNvSpPr/>
      </dsp:nvSpPr>
      <dsp:spPr>
        <a:xfrm>
          <a:off x="7512882" y="0"/>
          <a:ext cx="3414946" cy="2136209"/>
        </a:xfrm>
        <a:prstGeom prst="rect">
          <a:avLst/>
        </a:prstGeom>
        <a:solidFill>
          <a:schemeClr val="accent2">
            <a:tint val="40000"/>
            <a:alpha val="90000"/>
            <a:hueOff val="-3646688"/>
            <a:satOff val="-43637"/>
            <a:lumOff val="-699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646688"/>
              <a:satOff val="-43637"/>
              <a:lumOff val="-69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Channel, Product &amp; Campaign Analysis</a:t>
          </a:r>
          <a:endParaRPr lang="en-IN" sz="1800" b="0" i="0" kern="1200" dirty="0"/>
        </a:p>
      </dsp:txBody>
      <dsp:txXfrm>
        <a:off x="7512882" y="811759"/>
        <a:ext cx="3414946" cy="1281725"/>
      </dsp:txXfrm>
    </dsp:sp>
    <dsp:sp modelId="{1CAAB5AB-1BB9-402C-98E2-CE5BDD047A72}">
      <dsp:nvSpPr>
        <dsp:cNvPr id="0" name=""/>
        <dsp:cNvSpPr/>
      </dsp:nvSpPr>
      <dsp:spPr>
        <a:xfrm>
          <a:off x="8899924" y="213620"/>
          <a:ext cx="640862" cy="640862"/>
        </a:xfrm>
        <a:prstGeom prst="ellipse">
          <a:avLst/>
        </a:prstGeom>
        <a:solidFill>
          <a:schemeClr val="accent2">
            <a:hueOff val="-3307173"/>
            <a:satOff val="-24590"/>
            <a:lumOff val="-27295"/>
            <a:alphaOff val="0"/>
          </a:schemeClr>
        </a:solidFill>
        <a:ln w="12700" cap="flat" cmpd="sng" algn="ctr">
          <a:solidFill>
            <a:schemeClr val="accent2">
              <a:hueOff val="-3307173"/>
              <a:satOff val="-24590"/>
              <a:lumOff val="-272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64" tIns="12700" rIns="49964" bIns="127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3</a:t>
          </a:r>
        </a:p>
      </dsp:txBody>
      <dsp:txXfrm>
        <a:off x="8993776" y="307472"/>
        <a:ext cx="453158" cy="453158"/>
      </dsp:txXfrm>
    </dsp:sp>
    <dsp:sp modelId="{9A4AC3ED-608D-4094-8C64-F3C18C5731F5}">
      <dsp:nvSpPr>
        <dsp:cNvPr id="0" name=""/>
        <dsp:cNvSpPr/>
      </dsp:nvSpPr>
      <dsp:spPr>
        <a:xfrm>
          <a:off x="7512882" y="2136137"/>
          <a:ext cx="3414946" cy="72"/>
        </a:xfrm>
        <a:prstGeom prst="rect">
          <a:avLst/>
        </a:prstGeom>
        <a:solidFill>
          <a:schemeClr val="accent2">
            <a:hueOff val="-4133967"/>
            <a:satOff val="-30738"/>
            <a:lumOff val="-34119"/>
            <a:alphaOff val="0"/>
          </a:schemeClr>
        </a:solidFill>
        <a:ln w="12700" cap="flat" cmpd="sng" algn="ctr">
          <a:solidFill>
            <a:schemeClr val="accent2">
              <a:hueOff val="-4133967"/>
              <a:satOff val="-30738"/>
              <a:lumOff val="-341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84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7F77-3CF6-DAE4-0997-4FA97FBE5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3F2C7-E501-E40D-95F0-3D0FA5317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F10FF-0128-28C4-EDFF-DC008C91D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0F242-FA08-559B-A52D-F0996F4B5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01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4771-8792-10FB-64D9-7A875055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09C61-F04A-D4E7-0494-5D220B13C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0B19D6-5524-77C3-1AB3-46FCF2759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998D5-84A5-EFFC-94DD-E4D42291F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79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15618-55A9-3420-D55C-6B5376AD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379BF-883B-E88F-022F-5C9828F83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7367F-89BF-389F-01C7-EC1A05215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E9568-4F9A-B9C5-504B-C5ACEB9D08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8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8438-D632-C481-A0B7-F1A6D8ED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977C9-945D-5851-5A8C-F78D0C71A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AD84EF-54E4-9CCC-C332-F5D65F762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DF92A-A6B1-7875-67B2-8E70F66C87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72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80117-399B-47ED-ECF0-6F5D73BF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B4A58-675D-FC0D-A52A-045BC5BAA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94554-A20E-D371-BE87-155D9B0AC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558B8-4CDF-655C-F02F-B144D141E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87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2EBC-FC16-CACF-C1E0-676FB28D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1BFEF-4E7A-6A51-3512-AD9239035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EE555-4843-938E-0CEA-0CC4203A3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C0AE1-9F21-CCA4-0AD5-7939FF303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37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C0C9-5172-02D6-2BA5-E32FE2CCE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D7F97-8420-7633-A8E7-A2FD12C49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226896-610C-40AA-ED18-F3CBA22BF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97DEC-0CD8-E624-6801-F652B379B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12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6C04E-B914-8590-00B9-67D5E43F5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A6418-B6B5-8127-D2FB-CDBF7860B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EA9BB-5584-80B1-26FB-A29493681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06920-9FD6-9F5F-ACCA-4464C2C68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5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4D05EB-768D-75F8-7870-7DD65015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F57A3-2E9C-453D-B3DD-4216181C2119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E6EF1-C646-7BF3-A17C-198AAE1AE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8F6C4-E9DC-41C1-9897-8F24B751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70D2F-3CD6-4C6B-908A-CFB15612C7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40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TextBox 3"/>
          <p:cNvSpPr txBox="1"/>
          <p:nvPr/>
        </p:nvSpPr>
        <p:spPr>
          <a:xfrm>
            <a:off x="685802" y="2117265"/>
            <a:ext cx="5971673" cy="2767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</a:p>
          <a:p>
            <a:pPr>
              <a:lnSpc>
                <a:spcPct val="120000"/>
              </a:lnSpc>
            </a:pPr>
            <a:endParaRPr lang="en-US" sz="4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sz="3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Member: Mothies Raj D 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493" y="6016379"/>
            <a:ext cx="5018069" cy="37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2"/>
              </a:lnSpc>
            </a:pPr>
            <a:r>
              <a:rPr lang="en-US" sz="2766" spc="-124" dirty="0">
                <a:solidFill>
                  <a:srgbClr val="F2EEF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Mothies Raj D G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17621EF-6E79-94C4-44D1-37C95D1766AA}"/>
              </a:ext>
            </a:extLst>
          </p:cNvPr>
          <p:cNvSpPr/>
          <p:nvPr/>
        </p:nvSpPr>
        <p:spPr>
          <a:xfrm>
            <a:off x="625841" y="5696166"/>
            <a:ext cx="1277909" cy="218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chemeClr val="bg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Presented by:</a:t>
            </a:r>
            <a:endParaRPr lang="en-US" sz="13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76AAA7-E9E2-E87C-639C-46961338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359" y="572436"/>
            <a:ext cx="6345443" cy="6012931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FBF70AF0-5629-874E-43F7-D40222B4C618}"/>
              </a:ext>
            </a:extLst>
          </p:cNvPr>
          <p:cNvSpPr/>
          <p:nvPr/>
        </p:nvSpPr>
        <p:spPr>
          <a:xfrm>
            <a:off x="3130417" y="5698168"/>
            <a:ext cx="1277909" cy="218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096A4-C3FB-9168-C63E-5D4CCA724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61F89231-30E9-EC5C-D7C5-ED500DE047FA}"/>
              </a:ext>
            </a:extLst>
          </p:cNvPr>
          <p:cNvSpPr/>
          <p:nvPr/>
        </p:nvSpPr>
        <p:spPr>
          <a:xfrm>
            <a:off x="256032" y="211635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2060"/>
                </a:solidFill>
                <a:latin typeface="Heading Now 71-78"/>
                <a:cs typeface="Poppins" panose="00000500000000000000" pitchFamily="2" charset="0"/>
              </a:rPr>
              <a:t>Agenda: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6E6C8A0-A795-8FFD-1DEC-BC6C67571BE0}"/>
              </a:ext>
            </a:extLst>
          </p:cNvPr>
          <p:cNvSpPr/>
          <p:nvPr/>
        </p:nvSpPr>
        <p:spPr>
          <a:xfrm>
            <a:off x="8961120" y="6620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5A6F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© Systech Solutions, Inc.</a:t>
            </a:r>
            <a:endParaRPr lang="en-US" sz="75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CA8E86-1A3F-C630-52D6-DA2007BF5C8E}"/>
              </a:ext>
            </a:extLst>
          </p:cNvPr>
          <p:cNvSpPr/>
          <p:nvPr/>
        </p:nvSpPr>
        <p:spPr>
          <a:xfrm>
            <a:off x="283464" y="1618247"/>
            <a:ext cx="11519515" cy="4391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i="1">
              <a:solidFill>
                <a:srgbClr val="5A6F82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97A9A8F7-FF54-904F-53BC-C2F90BE13D19}"/>
              </a:ext>
            </a:extLst>
          </p:cNvPr>
          <p:cNvSpPr/>
          <p:nvPr/>
        </p:nvSpPr>
        <p:spPr>
          <a:xfrm>
            <a:off x="912539" y="2103146"/>
            <a:ext cx="8698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3C78CE-D2DF-0E0A-12FA-BA077724D4F9}"/>
              </a:ext>
            </a:extLst>
          </p:cNvPr>
          <p:cNvSpPr txBox="1"/>
          <p:nvPr/>
        </p:nvSpPr>
        <p:spPr>
          <a:xfrm>
            <a:off x="1035203" y="1336862"/>
            <a:ext cx="60940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About insurancemarket.ae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ading Now 71-78"/>
                <a:ea typeface="Calibri" pitchFamily="34" charset="-122"/>
                <a:cs typeface="Poppins" panose="00000500000000000000" pitchFamily="2" charset="0"/>
              </a:rPr>
              <a:t>Business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ading Now 71-78"/>
                <a:ea typeface="Calibri" pitchFamily="34" charset="-122"/>
                <a:cs typeface="Poppins" panose="00000500000000000000" pitchFamily="2" charset="0"/>
              </a:rPr>
              <a:t>Business Requirement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ading Now 71-78"/>
                <a:ea typeface="Calibri" pitchFamily="34" charset="-122"/>
                <a:cs typeface="Poppins" panose="00000500000000000000" pitchFamily="2" charset="0"/>
              </a:rPr>
              <a:t>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ading Now 71-78"/>
                <a:ea typeface="Calibri" pitchFamily="34" charset="-122"/>
                <a:cs typeface="Poppins" panose="00000500000000000000" pitchFamily="2" charset="0"/>
              </a:rPr>
              <a:t>High Level Architecture-insurance Sales &amp; </a:t>
            </a:r>
            <a:r>
              <a:rPr lang="en-US" dirty="0" err="1">
                <a:latin typeface="Heading Now 71-78"/>
                <a:ea typeface="Calibri" pitchFamily="34" charset="-122"/>
                <a:cs typeface="Poppins" panose="00000500000000000000" pitchFamily="2" charset="0"/>
              </a:rPr>
              <a:t>ConversionFunnel</a:t>
            </a:r>
            <a:r>
              <a:rPr lang="en-US" dirty="0">
                <a:latin typeface="Heading Now 71-78"/>
                <a:ea typeface="Calibri" pitchFamily="34" charset="-122"/>
                <a:cs typeface="Poppins" panose="00000500000000000000" pitchFamily="2" charset="0"/>
              </a:rPr>
              <a:t>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ading Now 71-78"/>
                <a:ea typeface="Calibri" pitchFamily="34" charset="-122"/>
                <a:cs typeface="Poppins" panose="00000500000000000000" pitchFamily="2" charset="0"/>
              </a:rPr>
              <a:t>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ading Now 71-78"/>
                <a:ea typeface="Calibri" pitchFamily="34" charset="-122"/>
                <a:cs typeface="Poppins" panose="00000500000000000000" pitchFamily="2" charset="0"/>
              </a:rPr>
              <a:t>Lesson Learnt</a:t>
            </a:r>
            <a:endParaRPr lang="en-US" dirty="0">
              <a:latin typeface="Heading Now 71-78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ading Now 71-78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ading Now 71-78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ading Now 71-78"/>
              <a:ea typeface="Calibri" pitchFamily="34" charset="-122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ading Now 71-78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ading Now 71-78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80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17627-AA73-859F-BAB3-28DF3FEE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BB1A30F-0C81-2011-550B-9C9B58120976}"/>
              </a:ext>
            </a:extLst>
          </p:cNvPr>
          <p:cNvSpPr/>
          <p:nvPr/>
        </p:nvSpPr>
        <p:spPr>
          <a:xfrm>
            <a:off x="256032" y="211635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Heading Now 71-78"/>
                <a:ea typeface="Calibri" pitchFamily="34" charset="-122"/>
                <a:cs typeface="Poppins" panose="00000500000000000000" pitchFamily="2" charset="0"/>
              </a:rPr>
              <a:t>About insurancemarket.ae</a:t>
            </a:r>
            <a:endParaRPr lang="en-US" sz="2800" dirty="0">
              <a:solidFill>
                <a:srgbClr val="002060"/>
              </a:solidFill>
              <a:latin typeface="Heading Now 71-78"/>
              <a:cs typeface="Poppins" panose="00000500000000000000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F5E551E-E7DA-222B-3841-A41857E53824}"/>
              </a:ext>
            </a:extLst>
          </p:cNvPr>
          <p:cNvSpPr/>
          <p:nvPr/>
        </p:nvSpPr>
        <p:spPr>
          <a:xfrm>
            <a:off x="8961120" y="6620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5A6F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© Systech Solutions, Inc.</a:t>
            </a:r>
            <a:endParaRPr lang="en-US" sz="75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04C8A6-C264-20FB-5894-E65DF3FA93D1}"/>
              </a:ext>
            </a:extLst>
          </p:cNvPr>
          <p:cNvSpPr/>
          <p:nvPr/>
        </p:nvSpPr>
        <p:spPr>
          <a:xfrm>
            <a:off x="283464" y="1618247"/>
            <a:ext cx="11519515" cy="4391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i="1">
              <a:solidFill>
                <a:srgbClr val="5A6F82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FD388094-3CE1-564E-8A3E-5E7B37E21DBD}"/>
              </a:ext>
            </a:extLst>
          </p:cNvPr>
          <p:cNvSpPr/>
          <p:nvPr/>
        </p:nvSpPr>
        <p:spPr>
          <a:xfrm>
            <a:off x="752856" y="1849254"/>
            <a:ext cx="8698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InsuranceMarket.ae is an insurance brokerage and digital insurance platform in the UAE. It connects customers with multiple insurance providers and helps customers compare and purchase insurance policies.</a:t>
            </a:r>
            <a:r>
              <a:rPr lang="en-US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key business objective is to acquire customers, convert leads into policy purchases, generate premium and commission revenue, and improve the performance of channels and campaigns.</a:t>
            </a:r>
          </a:p>
        </p:txBody>
      </p:sp>
    </p:spTree>
    <p:extLst>
      <p:ext uri="{BB962C8B-B14F-4D97-AF65-F5344CB8AC3E}">
        <p14:creationId xmlns:p14="http://schemas.microsoft.com/office/powerpoint/2010/main" val="2618207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0BF88-4DAA-1F45-5332-4E6EB707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32E7C2F-8082-3CED-3C40-458058DDADBD}"/>
              </a:ext>
            </a:extLst>
          </p:cNvPr>
          <p:cNvSpPr/>
          <p:nvPr/>
        </p:nvSpPr>
        <p:spPr>
          <a:xfrm>
            <a:off x="283464" y="280937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Heading Now 71-78"/>
                <a:ea typeface="Calibri" pitchFamily="34" charset="-122"/>
                <a:cs typeface="Poppins" panose="00000500000000000000" pitchFamily="2" charset="0"/>
              </a:rPr>
              <a:t>Business Objective</a:t>
            </a:r>
            <a:endParaRPr lang="en-US" sz="2800" dirty="0">
              <a:solidFill>
                <a:srgbClr val="002060"/>
              </a:solidFill>
              <a:latin typeface="Heading Now 71-78"/>
              <a:cs typeface="Poppins" panose="00000500000000000000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13CC2A-5ACE-1275-CB8B-251C9CA4A768}"/>
              </a:ext>
            </a:extLst>
          </p:cNvPr>
          <p:cNvSpPr/>
          <p:nvPr/>
        </p:nvSpPr>
        <p:spPr>
          <a:xfrm>
            <a:off x="8961120" y="6620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5A6F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© Systech Solutions, Inc.</a:t>
            </a:r>
            <a:endParaRPr lang="en-US" sz="75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DB6A5F-D046-8EFA-EFC1-69992D1DE5E6}"/>
              </a:ext>
            </a:extLst>
          </p:cNvPr>
          <p:cNvSpPr/>
          <p:nvPr/>
        </p:nvSpPr>
        <p:spPr>
          <a:xfrm>
            <a:off x="283464" y="1618247"/>
            <a:ext cx="11519515" cy="4391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i="1">
              <a:solidFill>
                <a:srgbClr val="5A6F82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F9C809BF-A5F2-6D69-199B-EB4CEB274ACB}"/>
              </a:ext>
            </a:extLst>
          </p:cNvPr>
          <p:cNvSpPr/>
          <p:nvPr/>
        </p:nvSpPr>
        <p:spPr>
          <a:xfrm>
            <a:off x="283465" y="3362827"/>
            <a:ext cx="344031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Heading Now 71-78"/>
                <a:ea typeface="Calibri" pitchFamily="34" charset="-122"/>
                <a:cs typeface="Poppins" panose="00000500000000000000" pitchFamily="2" charset="0"/>
              </a:rPr>
              <a:t>Business Requirement</a:t>
            </a:r>
            <a:endParaRPr lang="en-US" sz="2800" dirty="0">
              <a:solidFill>
                <a:srgbClr val="002060"/>
              </a:solidFill>
              <a:latin typeface="Heading Now 71-78"/>
              <a:cs typeface="Poppins" panose="00000500000000000000" pitchFamily="2" charset="0"/>
            </a:endParaRP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D19A191-6177-A44E-91FD-ECEA5EEBB3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1108099"/>
              </p:ext>
            </p:extLst>
          </p:nvPr>
        </p:nvGraphicFramePr>
        <p:xfrm>
          <a:off x="632085" y="1133896"/>
          <a:ext cx="10927829" cy="2136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3FE22C76-D6C5-706B-B2C7-77FAAA1227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890429"/>
              </p:ext>
            </p:extLst>
          </p:nvPr>
        </p:nvGraphicFramePr>
        <p:xfrm>
          <a:off x="632085" y="4277605"/>
          <a:ext cx="10927829" cy="2136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01513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Graphic spid="9" grpId="0">
        <p:bldAsOne/>
      </p:bldGraphic>
      <p:bldGraphic spid="10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68AD4-4BDD-0991-6722-5F644ABD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4A5FBED-F4F7-BCB7-8808-43CA545E3FAC}"/>
              </a:ext>
            </a:extLst>
          </p:cNvPr>
          <p:cNvSpPr/>
          <p:nvPr/>
        </p:nvSpPr>
        <p:spPr>
          <a:xfrm>
            <a:off x="283464" y="280937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Heading Now 71-78"/>
                <a:ea typeface="Calibri" pitchFamily="34" charset="-122"/>
                <a:cs typeface="Poppins" panose="00000500000000000000" pitchFamily="2" charset="0"/>
              </a:rPr>
              <a:t>Data Analysis</a:t>
            </a:r>
            <a:endParaRPr lang="en-US" sz="2800" dirty="0">
              <a:solidFill>
                <a:srgbClr val="002060"/>
              </a:solidFill>
              <a:latin typeface="Heading Now 71-78"/>
              <a:cs typeface="Poppins" panose="00000500000000000000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D53394-0D9A-2300-3E15-00F295B28A30}"/>
              </a:ext>
            </a:extLst>
          </p:cNvPr>
          <p:cNvSpPr/>
          <p:nvPr/>
        </p:nvSpPr>
        <p:spPr>
          <a:xfrm>
            <a:off x="8961120" y="6620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5A6F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© Systech Solutions, Inc.</a:t>
            </a:r>
            <a:endParaRPr lang="en-US" sz="75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9068D1C-4FE8-0A47-9B83-08C819621DF2}"/>
              </a:ext>
            </a:extLst>
          </p:cNvPr>
          <p:cNvSpPr/>
          <p:nvPr/>
        </p:nvSpPr>
        <p:spPr>
          <a:xfrm>
            <a:off x="283464" y="1618247"/>
            <a:ext cx="11519515" cy="4391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i="1">
              <a:solidFill>
                <a:srgbClr val="5A6F82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AB737C-F4FB-BEAB-AA76-F01F29B31A54}"/>
              </a:ext>
            </a:extLst>
          </p:cNvPr>
          <p:cNvSpPr/>
          <p:nvPr/>
        </p:nvSpPr>
        <p:spPr>
          <a:xfrm>
            <a:off x="632918" y="1730746"/>
            <a:ext cx="10992853" cy="3874533"/>
          </a:xfrm>
          <a:prstGeom prst="roundRect">
            <a:avLst>
              <a:gd name="adj" fmla="val 6029"/>
            </a:avLst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8,000 leads</a:t>
            </a:r>
            <a:r>
              <a:rPr lang="en-IN" dirty="0"/>
              <a:t> were </a:t>
            </a:r>
            <a:r>
              <a:rPr lang="en-IN" dirty="0" err="1"/>
              <a:t>analyzed</a:t>
            </a:r>
            <a:r>
              <a:rPr lang="en-IN" dirty="0"/>
              <a:t>, with </a:t>
            </a:r>
            <a:r>
              <a:rPr lang="en-IN" b="1" dirty="0"/>
              <a:t>6,803 reaching Stage 2</a:t>
            </a:r>
            <a:r>
              <a:rPr lang="en-IN" dirty="0"/>
              <a:t>, </a:t>
            </a:r>
            <a:r>
              <a:rPr lang="en-IN" b="1" dirty="0"/>
              <a:t>5,123 reaching Stage 3</a:t>
            </a:r>
            <a:r>
              <a:rPr lang="en-IN" dirty="0"/>
              <a:t>, and </a:t>
            </a:r>
            <a:r>
              <a:rPr lang="en-IN" b="1" dirty="0"/>
              <a:t>3,326 leads completing a policy purchase</a:t>
            </a:r>
            <a:r>
              <a:rPr lang="en-IN" dirty="0"/>
              <a:t>, resulting in an overall </a:t>
            </a:r>
            <a:r>
              <a:rPr lang="en-IN" b="1" dirty="0"/>
              <a:t>41.58% conversion rate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Stage 1 has a 100% conversion rate</a:t>
            </a:r>
            <a:r>
              <a:rPr lang="en-IN" dirty="0"/>
              <a:t>, while conversion decreases to </a:t>
            </a:r>
            <a:r>
              <a:rPr lang="en-IN" b="1" dirty="0"/>
              <a:t>85.04% at Stage 2</a:t>
            </a:r>
            <a:r>
              <a:rPr lang="en-IN" dirty="0"/>
              <a:t> and </a:t>
            </a:r>
            <a:r>
              <a:rPr lang="en-IN" b="1" dirty="0"/>
              <a:t>75.31% at Stage 3</a:t>
            </a:r>
            <a:r>
              <a:rPr lang="en-IN" dirty="0"/>
              <a:t>, indicating increasing customer drop-off as the funnel progresses.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business generated approximately </a:t>
            </a:r>
            <a:r>
              <a:rPr lang="en-IN" b="1" dirty="0"/>
              <a:t>AED 15.25M in total premium</a:t>
            </a:r>
            <a:r>
              <a:rPr lang="en-IN" dirty="0"/>
              <a:t>, with an </a:t>
            </a:r>
            <a:r>
              <a:rPr lang="en-IN" b="1" dirty="0"/>
              <a:t>average premium of AED 3.05K</a:t>
            </a:r>
            <a:r>
              <a:rPr lang="en-IN" dirty="0"/>
              <a:t> per policy.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Health Insurance(AED 5.82M) </a:t>
            </a:r>
            <a:r>
              <a:rPr lang="en-IN" dirty="0"/>
              <a:t>has the highest number of policies, followed by </a:t>
            </a:r>
            <a:r>
              <a:rPr lang="en-IN" b="1" dirty="0"/>
              <a:t>Motor Insurance(AED 5.53M,</a:t>
            </a:r>
            <a:r>
              <a:rPr lang="en-IN" dirty="0"/>
              <a:t> making these the strongest product categories by policy volume.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Premium contribution is </a:t>
            </a:r>
            <a:r>
              <a:rPr lang="en-IN" b="1" dirty="0"/>
              <a:t>relatively balanced across channels</a:t>
            </a:r>
            <a:r>
              <a:rPr lang="en-IN" dirty="0"/>
              <a:t>, with each major channel contributing roughly </a:t>
            </a:r>
            <a:r>
              <a:rPr lang="en-IN" b="1" dirty="0"/>
              <a:t>19–21%</a:t>
            </a:r>
            <a:r>
              <a:rPr lang="en-IN" dirty="0"/>
              <a:t> of total premium, indicating no single channel dominates premium revenue.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1,485 repeat customers</a:t>
            </a:r>
            <a:r>
              <a:rPr lang="en-IN" dirty="0"/>
              <a:t> were identified, with a </a:t>
            </a:r>
            <a:r>
              <a:rPr lang="en-IN" b="1" dirty="0"/>
              <a:t>61.09% retention rate</a:t>
            </a:r>
            <a:r>
              <a:rPr lang="en-IN" dirty="0"/>
              <a:t>, indicating a significant base of returning customers.</a:t>
            </a:r>
          </a:p>
        </p:txBody>
      </p:sp>
    </p:spTree>
    <p:extLst>
      <p:ext uri="{BB962C8B-B14F-4D97-AF65-F5344CB8AC3E}">
        <p14:creationId xmlns:p14="http://schemas.microsoft.com/office/powerpoint/2010/main" val="3787805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2C8EB-8300-33D8-8270-E2684C49F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BACE8749-F188-45E3-2422-67702C9AEAF6}"/>
              </a:ext>
            </a:extLst>
          </p:cNvPr>
          <p:cNvSpPr/>
          <p:nvPr/>
        </p:nvSpPr>
        <p:spPr>
          <a:xfrm>
            <a:off x="8961120" y="6620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5A6F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© Systech Solutions, Inc.</a:t>
            </a:r>
            <a:endParaRPr lang="en-US" sz="75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F381D52-B78E-D8DC-B415-27070679A670}"/>
              </a:ext>
            </a:extLst>
          </p:cNvPr>
          <p:cNvSpPr/>
          <p:nvPr/>
        </p:nvSpPr>
        <p:spPr>
          <a:xfrm>
            <a:off x="283464" y="1618247"/>
            <a:ext cx="11519515" cy="4391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i="1">
              <a:solidFill>
                <a:srgbClr val="5A6F82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246953F-55E1-242D-9BE0-1A157F3C8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455" y="144945"/>
            <a:ext cx="724026" cy="62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220BA5-22B4-C55E-6011-C3A99B814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3941"/>
            <a:ext cx="12192000" cy="66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8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7D054-C722-2F26-1BA7-BE5E3154F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DCBF7B2E-CBC1-B53A-29C9-A65F57E48FF8}"/>
              </a:ext>
            </a:extLst>
          </p:cNvPr>
          <p:cNvSpPr/>
          <p:nvPr/>
        </p:nvSpPr>
        <p:spPr>
          <a:xfrm>
            <a:off x="283464" y="280937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Heading Now 71-78"/>
                <a:ea typeface="Calibri" pitchFamily="34" charset="-122"/>
                <a:cs typeface="Poppins" panose="00000500000000000000" pitchFamily="2" charset="0"/>
              </a:rPr>
              <a:t>Quality Assurance</a:t>
            </a:r>
            <a:endParaRPr lang="en-US" sz="2800" dirty="0">
              <a:solidFill>
                <a:srgbClr val="002060"/>
              </a:solidFill>
              <a:latin typeface="Heading Now 71-78"/>
              <a:cs typeface="Poppins" panose="00000500000000000000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CF599A-F769-5D5A-2ECE-4BF4B111120F}"/>
              </a:ext>
            </a:extLst>
          </p:cNvPr>
          <p:cNvSpPr/>
          <p:nvPr/>
        </p:nvSpPr>
        <p:spPr>
          <a:xfrm>
            <a:off x="8961120" y="6620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5A6F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© Systech Solutions, Inc.</a:t>
            </a:r>
            <a:endParaRPr lang="en-US" sz="75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8C0527-5928-E7F8-5C9A-EE6C1258F429}"/>
              </a:ext>
            </a:extLst>
          </p:cNvPr>
          <p:cNvSpPr/>
          <p:nvPr/>
        </p:nvSpPr>
        <p:spPr>
          <a:xfrm>
            <a:off x="283464" y="1618247"/>
            <a:ext cx="11519515" cy="4391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i="1">
              <a:solidFill>
                <a:srgbClr val="5A6F82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0FB573-DBB0-4E38-DC58-357D6A809E70}"/>
              </a:ext>
            </a:extLst>
          </p:cNvPr>
          <p:cNvSpPr txBox="1"/>
          <p:nvPr/>
        </p:nvSpPr>
        <p:spPr>
          <a:xfrm>
            <a:off x="1310833" y="1266988"/>
            <a:ext cx="6094070" cy="308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 of Testing Performed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IN" b="1" dirty="0"/>
              <a:t>Transformation &amp; Business Rule Testing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Validated funnel stages, premium calculations, conversion rates, campaign metrics and other business rules.</a:t>
            </a:r>
          </a:p>
          <a:p>
            <a:pPr lvl="0"/>
            <a:endParaRPr lang="en-IN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Major Issues Found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b="1" dirty="0"/>
              <a:t>Invalid Funnel Date Sequence</a:t>
            </a:r>
            <a:r>
              <a:rPr lang="en-IN" dirty="0"/>
              <a:t> </a:t>
            </a:r>
          </a:p>
          <a:p>
            <a:pPr marL="28575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dirty="0"/>
              <a:t>Some records had funnel stage dates out of the expected sequence(LEAD007110, LEAD007511).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57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400D-6885-83AC-A1ED-AE506265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4701-9E64-1EF6-4312-81D53ABEE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55" y="730436"/>
            <a:ext cx="11096362" cy="573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88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4B4FE-492E-2E26-4926-95B79841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E6CF2781-FE94-01C1-A2C7-801601698811}"/>
              </a:ext>
            </a:extLst>
          </p:cNvPr>
          <p:cNvSpPr/>
          <p:nvPr/>
        </p:nvSpPr>
        <p:spPr>
          <a:xfrm>
            <a:off x="283464" y="280937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  <a:latin typeface="Heading Now 71-78"/>
                <a:ea typeface="Calibri" pitchFamily="34" charset="-122"/>
                <a:cs typeface="Poppins" panose="00000500000000000000" pitchFamily="2" charset="0"/>
              </a:rPr>
              <a:t>Lesson Learnt </a:t>
            </a:r>
            <a:endParaRPr lang="en-US" sz="2800" dirty="0">
              <a:solidFill>
                <a:srgbClr val="002060"/>
              </a:solidFill>
              <a:latin typeface="Heading Now 71-78"/>
              <a:cs typeface="Poppins" panose="00000500000000000000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13F96E-14AE-2EB7-741B-B4F04B5B8F2E}"/>
              </a:ext>
            </a:extLst>
          </p:cNvPr>
          <p:cNvSpPr/>
          <p:nvPr/>
        </p:nvSpPr>
        <p:spPr>
          <a:xfrm>
            <a:off x="8961120" y="66202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5A6F8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© Systech Solutions, Inc.</a:t>
            </a:r>
            <a:endParaRPr lang="en-US" sz="75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3F5207-0B52-6486-3C4E-6665387F407B}"/>
              </a:ext>
            </a:extLst>
          </p:cNvPr>
          <p:cNvSpPr/>
          <p:nvPr/>
        </p:nvSpPr>
        <p:spPr>
          <a:xfrm>
            <a:off x="283464" y="1618247"/>
            <a:ext cx="11519515" cy="4391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i="1">
              <a:solidFill>
                <a:srgbClr val="5A6F82"/>
              </a:solidFill>
              <a:latin typeface="Poppins" panose="00000500000000000000" pitchFamily="2" charset="0"/>
              <a:ea typeface="Calibri" pitchFamily="34" charset="-122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9FDFE-404B-A102-11B1-C4FB4331EBCD}"/>
              </a:ext>
            </a:extLst>
          </p:cNvPr>
          <p:cNvSpPr txBox="1"/>
          <p:nvPr/>
        </p:nvSpPr>
        <p:spPr>
          <a:xfrm>
            <a:off x="1329782" y="1329460"/>
            <a:ext cx="8940713" cy="2192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/>
              <a:t>Medallion Architecture</a:t>
            </a:r>
            <a:r>
              <a:rPr lang="en-IN" dirty="0"/>
              <a:t> – Learned how to build an end-to-end Bronze → Silver → Gold data pipeline.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/>
              <a:t>Data Quality &amp; Validation</a:t>
            </a:r>
            <a:r>
              <a:rPr lang="en-IN" dirty="0"/>
              <a:t> – Learned how to identify data issues, apply validation rules and maintain a </a:t>
            </a:r>
            <a:r>
              <a:rPr lang="en-IN" b="1" dirty="0" err="1"/>
              <a:t>silver_error_log</a:t>
            </a:r>
            <a:r>
              <a:rPr lang="en-IN" b="1" dirty="0"/>
              <a:t> </a:t>
            </a:r>
            <a:r>
              <a:rPr lang="en-IN" dirty="0"/>
              <a:t>instead of simply removing bad records.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/>
              <a:t>Incremental Data Processing</a:t>
            </a:r>
            <a:r>
              <a:rPr lang="en-IN" dirty="0"/>
              <a:t> – Learned how watermark-based processing avoids reprocessing already-loaded records.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747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ystech 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030A0"/>
      </a:accent1>
      <a:accent2>
        <a:srgbClr val="BB64D5"/>
      </a:accent2>
      <a:accent3>
        <a:srgbClr val="334158"/>
      </a:accent3>
      <a:accent4>
        <a:srgbClr val="BB64D5"/>
      </a:accent4>
      <a:accent5>
        <a:srgbClr val="A080DC"/>
      </a:accent5>
      <a:accent6>
        <a:srgbClr val="77A7DA"/>
      </a:accent6>
      <a:hlink>
        <a:srgbClr val="7030A0"/>
      </a:hlink>
      <a:folHlink>
        <a:srgbClr val="703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0FD1818DF9B94EA614C982EEF01BFC" ma:contentTypeVersion="19" ma:contentTypeDescription="Create a new document." ma:contentTypeScope="" ma:versionID="380c79cee51cf31b3adb223f33dc0968">
  <xsd:schema xmlns:xsd="http://www.w3.org/2001/XMLSchema" xmlns:xs="http://www.w3.org/2001/XMLSchema" xmlns:p="http://schemas.microsoft.com/office/2006/metadata/properties" xmlns:ns2="9be77b36-4c4a-4d32-bf5f-4e991e4589de" xmlns:ns3="13e643b9-4af4-4c85-9d69-2e9bb844751f" targetNamespace="http://schemas.microsoft.com/office/2006/metadata/properties" ma:root="true" ma:fieldsID="56abe3837a95212dee8f02c4e7711d99" ns2:_="" ns3:_="">
    <xsd:import namespace="9be77b36-4c4a-4d32-bf5f-4e991e4589de"/>
    <xsd:import namespace="13e643b9-4af4-4c85-9d69-2e9bb84475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77b36-4c4a-4d32-bf5f-4e991e4589d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f415749-7210-4d8e-a504-cd3f55fcf2bc}" ma:internalName="TaxCatchAll" ma:showField="CatchAllData" ma:web="9be77b36-4c4a-4d32-bf5f-4e991e4589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e643b9-4af4-4c85-9d69-2e9bb84475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a57d056d-5a20-4af8-88f3-2dab95413d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e77b36-4c4a-4d32-bf5f-4e991e4589de" xsi:nil="true"/>
    <lcf76f155ced4ddcb4097134ff3c332f xmlns="13e643b9-4af4-4c85-9d69-2e9bb844751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871061-35C2-4C8B-9371-C3033B301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77b36-4c4a-4d32-bf5f-4e991e4589de"/>
    <ds:schemaRef ds:uri="13e643b9-4af4-4c85-9d69-2e9bb84475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08284C-029E-4FBE-9A0F-99B1B84478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54C4A6-3131-4711-8054-295ABD93DC21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dcmitype/"/>
    <ds:schemaRef ds:uri="6310211b-859b-4947-98c9-7f726adf72df"/>
    <ds:schemaRef ds:uri="55676955-f94a-499f-88bb-16ed7785be8f"/>
    <ds:schemaRef ds:uri="http://schemas.microsoft.com/office/2006/metadata/properties"/>
    <ds:schemaRef ds:uri="http://www.w3.org/XML/1998/namespace"/>
    <ds:schemaRef ds:uri="9be77b36-4c4a-4d32-bf5f-4e991e4589de"/>
    <ds:schemaRef ds:uri="13e643b9-4af4-4c85-9d69-2e9bb844751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741</TotalTime>
  <Words>472</Words>
  <Application>Microsoft Office PowerPoint</Application>
  <PresentationFormat>Widescreen</PresentationFormat>
  <Paragraphs>69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Heading Now 71-78</vt:lpstr>
      <vt:lpstr>Poppins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Mothies Raj Dekshinamoorthi Geetha</cp:lastModifiedBy>
  <cp:revision>72</cp:revision>
  <dcterms:created xsi:type="dcterms:W3CDTF">2026-02-26T10:48:27Z</dcterms:created>
  <dcterms:modified xsi:type="dcterms:W3CDTF">2026-08-24T04:47:25Z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0x010100FA0FD1818DF9B94EA614C982EEF01BFC</vt:lpwstr>
  </property>
  <property fmtid="{D5CDD505-2E9C-101B-9397-08002B2CF9AE}" pid="3" name="MediaServiceImageTags">
    <vt:lpwstr/>
  </property>
</Properties>
</file>